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66" r:id="rId2"/>
    <p:sldId id="256" r:id="rId3"/>
    <p:sldId id="257" r:id="rId4"/>
    <p:sldId id="258" r:id="rId5"/>
    <p:sldId id="260" r:id="rId6"/>
    <p:sldId id="264" r:id="rId7"/>
    <p:sldId id="259" r:id="rId8"/>
    <p:sldId id="261" r:id="rId9"/>
    <p:sldId id="262" r:id="rId10"/>
    <p:sldId id="263" r:id="rId11"/>
    <p:sldId id="265" r:id="rId12"/>
    <p:sldId id="268" r:id="rId13"/>
    <p:sldId id="267" r:id="rId14"/>
  </p:sldIdLst>
  <p:sldSz cx="14630400" cy="8229600"/>
  <p:notesSz cx="8229600" cy="14630400"/>
  <p:embeddedFontLst>
    <p:embeddedFont>
      <p:font typeface="Open Sans" panose="020B0606030504020204" pitchFamily="34" charset="0"/>
      <p:regular r:id="rId16"/>
      <p:bold r:id="rId17"/>
      <p:italic r:id="rId18"/>
      <p:boldItalic r:id="rId19"/>
    </p:embeddedFont>
    <p:embeddedFont>
      <p:font typeface="Sitka Heading Semibold" pitchFamily="2" charset="0"/>
      <p:bold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1" d="100"/>
          <a:sy n="61" d="100"/>
        </p:scale>
        <p:origin x="39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C12CF034-EB4B-43EA-93B1-906A4F634A45}" type="datetimeFigureOut">
              <a:rPr lang="en-IN" smtClean="0"/>
              <a:t>09-03-2026</a:t>
            </a:fld>
            <a:endParaRPr lang="en-IN"/>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C063E6DB-DA5C-495A-B1FE-A0DD7BD48811}" type="slidenum">
              <a:rPr lang="en-IN" smtClean="0"/>
              <a:t>‹#›</a:t>
            </a:fld>
            <a:endParaRPr lang="en-IN"/>
          </a:p>
        </p:txBody>
      </p:sp>
    </p:spTree>
    <p:extLst>
      <p:ext uri="{BB962C8B-B14F-4D97-AF65-F5344CB8AC3E}">
        <p14:creationId xmlns:p14="http://schemas.microsoft.com/office/powerpoint/2010/main" val="2077568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3.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 Id="rId14" Type="http://schemas.openxmlformats.org/officeDocument/2006/relationships/image" Target="../media/image25.svg"/></Relationships>
</file>

<file path=ppt/slides/_rels/slide8.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9.svg"/><Relationship Id="rId11" Type="http://schemas.openxmlformats.org/officeDocument/2006/relationships/image" Target="../media/image3.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 Id="rId9"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2" name="Title"/>
          <p:cNvSpPr/>
          <p:nvPr/>
        </p:nvSpPr>
        <p:spPr>
          <a:xfrm>
            <a:off x="273270" y="1854629"/>
            <a:ext cx="13563342" cy="664643"/>
          </a:xfrm>
          <a:prstGeom prst="rect">
            <a:avLst/>
          </a:prstGeom>
          <a:noFill/>
          <a:ln/>
        </p:spPr>
        <p:txBody>
          <a:bodyPr wrap="none" lIns="0" tIns="0" rIns="0" bIns="0" rtlCol="0" anchor="t"/>
          <a:lstStyle/>
          <a:p>
            <a:pPr marL="0" indent="0" algn="l">
              <a:lnSpc>
                <a:spcPts val="5000"/>
              </a:lnSpc>
              <a:buNone/>
            </a:pPr>
            <a:r>
              <a:rPr lang="en-US" sz="5800" b="1" dirty="0">
                <a:solidFill>
                  <a:srgbClr val="443728"/>
                </a:solidFill>
                <a:latin typeface="Sitka Heading Semibold" pitchFamily="2" charset="0"/>
                <a:ea typeface="Segoe UI Black" panose="020B0A02040204020203" pitchFamily="34" charset="0"/>
                <a:cs typeface="Crimson Pro Bold" pitchFamily="34" charset="-120"/>
              </a:rPr>
              <a:t>Commercial Insurance</a:t>
            </a:r>
          </a:p>
        </p:txBody>
      </p:sp>
      <p:sp>
        <p:nvSpPr>
          <p:cNvPr id="3" name="Subtitle"/>
          <p:cNvSpPr/>
          <p:nvPr/>
        </p:nvSpPr>
        <p:spPr>
          <a:xfrm>
            <a:off x="399393" y="2835248"/>
            <a:ext cx="13437219" cy="1888884"/>
          </a:xfrm>
          <a:prstGeom prst="rect">
            <a:avLst/>
          </a:prstGeom>
          <a:noFill/>
          <a:ln/>
        </p:spPr>
        <p:txBody>
          <a:bodyPr wrap="none" lIns="0" tIns="0" rIns="0" bIns="0" rtlCol="0" anchor="t"/>
          <a:lstStyle/>
          <a:p>
            <a:pPr marL="0" indent="0" algn="l">
              <a:lnSpc>
                <a:spcPts val="2050"/>
              </a:lnSpc>
              <a:buNone/>
            </a:pPr>
            <a:r>
              <a:rPr lang="en-US" sz="2400" dirty="0">
                <a:solidFill>
                  <a:srgbClr val="443728"/>
                </a:solidFill>
                <a:latin typeface="Open Sans" pitchFamily="34" charset="0"/>
                <a:ea typeface="Open Sans" pitchFamily="34" charset="-122"/>
                <a:cs typeface="Open Sans" pitchFamily="34" charset="-120"/>
              </a:rPr>
              <a:t>Claims Processing &amp; </a:t>
            </a:r>
          </a:p>
          <a:p>
            <a:pPr marL="0" indent="0" algn="l">
              <a:lnSpc>
                <a:spcPts val="2050"/>
              </a:lnSpc>
              <a:buNone/>
            </a:pPr>
            <a:endParaRPr lang="en-US" sz="2400" dirty="0">
              <a:solidFill>
                <a:srgbClr val="443728"/>
              </a:solidFill>
              <a:latin typeface="Open Sans" pitchFamily="34" charset="0"/>
              <a:ea typeface="Open Sans" pitchFamily="34" charset="-122"/>
              <a:cs typeface="Open Sans" pitchFamily="34" charset="-120"/>
            </a:endParaRPr>
          </a:p>
          <a:p>
            <a:pPr marL="0" indent="0" algn="l">
              <a:lnSpc>
                <a:spcPts val="2050"/>
              </a:lnSpc>
              <a:buNone/>
            </a:pPr>
            <a:r>
              <a:rPr lang="en-US" sz="2400" dirty="0">
                <a:solidFill>
                  <a:srgbClr val="443728"/>
                </a:solidFill>
                <a:latin typeface="Open Sans" pitchFamily="34" charset="0"/>
                <a:ea typeface="Open Sans" pitchFamily="34" charset="-122"/>
                <a:cs typeface="Open Sans" pitchFamily="34" charset="-120"/>
              </a:rPr>
              <a:t>Policy Management System</a:t>
            </a:r>
          </a:p>
          <a:p>
            <a:pPr marL="0" indent="0" algn="l">
              <a:lnSpc>
                <a:spcPts val="2050"/>
              </a:lnSpc>
              <a:buNone/>
            </a:pPr>
            <a:endParaRPr lang="en-IN" sz="1600" dirty="0"/>
          </a:p>
          <a:p>
            <a:pPr>
              <a:lnSpc>
                <a:spcPts val="2050"/>
              </a:lnSpc>
            </a:pPr>
            <a:r>
              <a:rPr lang="en-IN" sz="1600" dirty="0"/>
              <a:t>Full-Stack Web Application </a:t>
            </a:r>
          </a:p>
          <a:p>
            <a:pPr>
              <a:lnSpc>
                <a:spcPts val="2050"/>
              </a:lnSpc>
            </a:pPr>
            <a:r>
              <a:rPr lang="en-IN" sz="1600" dirty="0"/>
              <a:t>ASP.NET Core 8 | Angular 20 | SQL Server </a:t>
            </a:r>
          </a:p>
          <a:p>
            <a:pPr>
              <a:lnSpc>
                <a:spcPts val="2050"/>
              </a:lnSpc>
            </a:pPr>
            <a:r>
              <a:rPr lang="en-IN" sz="1600" dirty="0"/>
              <a:t>| JWT Auth | </a:t>
            </a:r>
            <a:r>
              <a:rPr lang="en-IN" sz="1600" dirty="0" err="1"/>
              <a:t>SignalR</a:t>
            </a:r>
            <a:endParaRPr lang="en-US" sz="1600" dirty="0">
              <a:solidFill>
                <a:srgbClr val="443728"/>
              </a:solidFill>
              <a:ea typeface="Open Sans" pitchFamily="34" charset="-122"/>
              <a:cs typeface="Open Sans" pitchFamily="34" charset="-120"/>
            </a:endParaRPr>
          </a:p>
          <a:p>
            <a:pPr marL="0" indent="0" algn="l">
              <a:lnSpc>
                <a:spcPts val="2050"/>
              </a:lnSpc>
              <a:buNone/>
            </a:pPr>
            <a:endParaRPr lang="en-US" sz="1600" dirty="0">
              <a:solidFill>
                <a:srgbClr val="443728"/>
              </a:solidFill>
              <a:latin typeface="Open Sans" pitchFamily="34" charset="0"/>
              <a:ea typeface="Open Sans" pitchFamily="34" charset="-122"/>
              <a:cs typeface="Open Sans" pitchFamily="34" charset="-120"/>
            </a:endParaRPr>
          </a:p>
          <a:p>
            <a:pPr marL="0" indent="0" algn="l">
              <a:lnSpc>
                <a:spcPts val="2050"/>
              </a:lnSpc>
              <a:buNone/>
            </a:pPr>
            <a:endParaRPr lang="en-US" sz="1600" dirty="0">
              <a:solidFill>
                <a:srgbClr val="443728"/>
              </a:solidFill>
              <a:latin typeface="Open Sans" pitchFamily="34" charset="0"/>
              <a:ea typeface="Open Sans" pitchFamily="34" charset="-122"/>
              <a:cs typeface="Open Sans" pitchFamily="34" charset="-120"/>
            </a:endParaRPr>
          </a:p>
          <a:p>
            <a:pPr marL="0" indent="0" algn="l">
              <a:lnSpc>
                <a:spcPts val="2050"/>
              </a:lnSpc>
              <a:buNone/>
            </a:pPr>
            <a:endParaRPr lang="en-US" sz="1600" dirty="0">
              <a:solidFill>
                <a:srgbClr val="443728"/>
              </a:solidFill>
              <a:latin typeface="Open Sans" pitchFamily="34" charset="0"/>
              <a:ea typeface="Open Sans" pitchFamily="34" charset="-122"/>
              <a:cs typeface="Open Sans" pitchFamily="34" charset="-120"/>
            </a:endParaRPr>
          </a:p>
          <a:p>
            <a:pPr marL="0" indent="0" algn="l">
              <a:lnSpc>
                <a:spcPts val="2050"/>
              </a:lnSpc>
              <a:buNone/>
            </a:pPr>
            <a:endParaRPr lang="en-US" sz="1600" dirty="0">
              <a:solidFill>
                <a:srgbClr val="443728"/>
              </a:solidFill>
              <a:latin typeface="Open Sans" pitchFamily="34" charset="0"/>
              <a:ea typeface="Open Sans" pitchFamily="34" charset="-122"/>
              <a:cs typeface="Open Sans" pitchFamily="34" charset="-120"/>
            </a:endParaRPr>
          </a:p>
          <a:p>
            <a:pPr marL="0" indent="0" algn="l">
              <a:lnSpc>
                <a:spcPts val="2050"/>
              </a:lnSpc>
              <a:buNone/>
            </a:pPr>
            <a:endParaRPr lang="en-US" sz="1600" dirty="0">
              <a:solidFill>
                <a:srgbClr val="443728"/>
              </a:solidFill>
              <a:latin typeface="Open Sans" pitchFamily="34" charset="0"/>
              <a:ea typeface="Open Sans" pitchFamily="34" charset="-122"/>
              <a:cs typeface="Open Sans" pitchFamily="34" charset="-120"/>
            </a:endParaRPr>
          </a:p>
          <a:p>
            <a:pPr marL="0" indent="0" algn="l">
              <a:lnSpc>
                <a:spcPts val="2050"/>
              </a:lnSpc>
              <a:buNone/>
            </a:pPr>
            <a:endParaRPr lang="en-US" sz="1600" dirty="0">
              <a:solidFill>
                <a:srgbClr val="443728"/>
              </a:solidFill>
              <a:latin typeface="Open Sans" pitchFamily="34" charset="0"/>
              <a:ea typeface="Open Sans" pitchFamily="34" charset="-122"/>
              <a:cs typeface="Open Sans" pitchFamily="34" charset="-120"/>
            </a:endParaRPr>
          </a:p>
          <a:p>
            <a:pPr marL="0" indent="0" algn="l">
              <a:lnSpc>
                <a:spcPts val="2050"/>
              </a:lnSpc>
              <a:buNone/>
            </a:pPr>
            <a:endParaRPr lang="en-US" sz="1600" dirty="0">
              <a:solidFill>
                <a:srgbClr val="443728"/>
              </a:solidFill>
              <a:latin typeface="Open Sans" pitchFamily="34" charset="0"/>
              <a:ea typeface="Open Sans" pitchFamily="34" charset="-122"/>
              <a:cs typeface="Open Sans" pitchFamily="34" charset="-120"/>
            </a:endParaRPr>
          </a:p>
          <a:p>
            <a:pPr marL="0" indent="0" algn="l">
              <a:lnSpc>
                <a:spcPts val="2050"/>
              </a:lnSpc>
              <a:buNone/>
            </a:pPr>
            <a:endParaRPr lang="en-US" sz="1600" dirty="0">
              <a:solidFill>
                <a:srgbClr val="443728"/>
              </a:solidFill>
              <a:latin typeface="Open Sans" pitchFamily="34" charset="0"/>
              <a:ea typeface="Open Sans" pitchFamily="34" charset="-122"/>
              <a:cs typeface="Open Sans" pitchFamily="34" charset="-120"/>
            </a:endParaRPr>
          </a:p>
          <a:p>
            <a:pPr marL="0" indent="0" algn="l">
              <a:lnSpc>
                <a:spcPts val="2050"/>
              </a:lnSpc>
              <a:buNone/>
            </a:pPr>
            <a:endParaRPr lang="en-US" sz="1600" dirty="0">
              <a:solidFill>
                <a:srgbClr val="443728"/>
              </a:solidFill>
              <a:latin typeface="Open Sans" pitchFamily="34" charset="0"/>
              <a:ea typeface="Open Sans" pitchFamily="34" charset="-122"/>
              <a:cs typeface="Open Sans" pitchFamily="34" charset="-120"/>
            </a:endParaRPr>
          </a:p>
          <a:p>
            <a:pPr marL="0" indent="0" algn="l">
              <a:lnSpc>
                <a:spcPts val="2050"/>
              </a:lnSpc>
              <a:buNone/>
            </a:pPr>
            <a:r>
              <a:rPr lang="en-US" sz="1600" dirty="0">
                <a:solidFill>
                  <a:srgbClr val="443728"/>
                </a:solidFill>
                <a:latin typeface="Open Sans" pitchFamily="34" charset="0"/>
                <a:ea typeface="Open Sans" pitchFamily="34" charset="-122"/>
                <a:cs typeface="Open Sans" pitchFamily="34" charset="-120"/>
              </a:rPr>
              <a:t>- Presented by </a:t>
            </a:r>
            <a:r>
              <a:rPr lang="en-US" sz="1600" b="1" dirty="0">
                <a:solidFill>
                  <a:srgbClr val="443728"/>
                </a:solidFill>
                <a:latin typeface="Open Sans" pitchFamily="34" charset="0"/>
                <a:ea typeface="Open Sans" pitchFamily="34" charset="-122"/>
                <a:cs typeface="Open Sans" pitchFamily="34" charset="-120"/>
              </a:rPr>
              <a:t>Rithwika Nagula</a:t>
            </a:r>
            <a:br>
              <a:rPr lang="en-US" sz="1600" dirty="0">
                <a:solidFill>
                  <a:srgbClr val="443728"/>
                </a:solidFill>
                <a:latin typeface="Open Sans" pitchFamily="34" charset="0"/>
                <a:ea typeface="Open Sans" pitchFamily="34" charset="-122"/>
                <a:cs typeface="Open Sans" pitchFamily="34" charset="-120"/>
              </a:rPr>
            </a:br>
            <a:r>
              <a:rPr lang="en-US" sz="1600" dirty="0">
                <a:solidFill>
                  <a:srgbClr val="443728"/>
                </a:solidFill>
                <a:latin typeface="Open Sans" pitchFamily="34" charset="0"/>
                <a:ea typeface="Open Sans" pitchFamily="34" charset="-122"/>
                <a:cs typeface="Open Sans" pitchFamily="34" charset="-120"/>
              </a:rPr>
              <a:t>   Intern, The Hartford (Training Period: Dec 2025-Mar 2026)</a:t>
            </a:r>
          </a:p>
        </p:txBody>
      </p:sp>
      <p:pic>
        <p:nvPicPr>
          <p:cNvPr id="1028" name="Picture 4">
            <a:extLst>
              <a:ext uri="{FF2B5EF4-FFF2-40B4-BE49-F238E27FC236}">
                <a16:creationId xmlns:a16="http://schemas.microsoft.com/office/drawing/2014/main" id="{D43B719B-9DF4-CD90-911C-C76A09555B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8399" y="0"/>
            <a:ext cx="7112001" cy="822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784146"/>
            <a:ext cx="5103614" cy="637937"/>
          </a:xfrm>
          <a:prstGeom prst="rect">
            <a:avLst/>
          </a:prstGeom>
          <a:noFill/>
          <a:ln/>
        </p:spPr>
        <p:txBody>
          <a:bodyPr wrap="none" lIns="0" tIns="0" rIns="0" bIns="0" rtlCol="0" anchor="t"/>
          <a:lstStyle/>
          <a:p>
            <a:pPr marL="0" indent="0" algn="l">
              <a:lnSpc>
                <a:spcPts val="5000"/>
              </a:lnSpc>
              <a:buNone/>
            </a:pPr>
            <a:r>
              <a:rPr lang="en-US" sz="4000" b="1" dirty="0">
                <a:solidFill>
                  <a:srgbClr val="443728"/>
                </a:solidFill>
                <a:latin typeface="Sitka Heading Semibold" pitchFamily="2" charset="0"/>
                <a:ea typeface="Crimson Pro Bold" pitchFamily="34" charset="-122"/>
                <a:cs typeface="Crimson Pro Bold" pitchFamily="34" charset="-120"/>
              </a:rPr>
              <a:t>Commercial Insurance</a:t>
            </a:r>
            <a:endParaRPr lang="en-US" sz="4000" dirty="0">
              <a:latin typeface="Sitka Heading Semibold" pitchFamily="2" charset="0"/>
            </a:endParaRPr>
          </a:p>
        </p:txBody>
      </p:sp>
      <p:sp>
        <p:nvSpPr>
          <p:cNvPr id="3" name="Text 1"/>
          <p:cNvSpPr/>
          <p:nvPr/>
        </p:nvSpPr>
        <p:spPr>
          <a:xfrm>
            <a:off x="793790" y="1789509"/>
            <a:ext cx="13042821" cy="1241108"/>
          </a:xfrm>
          <a:prstGeom prst="rect">
            <a:avLst/>
          </a:prstGeom>
          <a:noFill/>
          <a:ln/>
        </p:spPr>
        <p:txBody>
          <a:bodyPr wrap="square" lIns="0" tIns="0" rIns="0" bIns="0" rtlCol="0" anchor="t"/>
          <a:lstStyle/>
          <a:p>
            <a:pPr marL="0" indent="0" algn="l">
              <a:lnSpc>
                <a:spcPts val="2400"/>
              </a:lnSpc>
              <a:buNone/>
            </a:pPr>
            <a:r>
              <a:rPr lang="en-US" sz="1600" dirty="0">
                <a:solidFill>
                  <a:srgbClr val="443728"/>
                </a:solidFill>
                <a:latin typeface="Open Sans" pitchFamily="34" charset="0"/>
                <a:ea typeface="Open Sans" pitchFamily="34" charset="-122"/>
                <a:cs typeface="Open Sans" pitchFamily="34" charset="-120"/>
              </a:rPr>
              <a:t>Problem statement: Commercial insurance claims processing faces growing complexity from layered policies, multiple coverage types, and evolving regulatory requirements. Manual handoffs and fragmented legacy systems create processing delays, increase the risk of claim errors, and hurt customer satisfaction. These challenges drive higher operational costs, slow payouts, and make consistent compliance difficult across diverse commercial portfolios.</a:t>
            </a:r>
            <a:endParaRPr lang="en-US" sz="1600" dirty="0"/>
          </a:p>
        </p:txBody>
      </p:sp>
      <p:sp>
        <p:nvSpPr>
          <p:cNvPr id="4" name="Text 2"/>
          <p:cNvSpPr/>
          <p:nvPr/>
        </p:nvSpPr>
        <p:spPr>
          <a:xfrm>
            <a:off x="793790" y="3306128"/>
            <a:ext cx="2620566" cy="318849"/>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Sitka Heading Semibold" pitchFamily="2" charset="0"/>
                <a:ea typeface="Crimson Pro Bold" pitchFamily="34" charset="-122"/>
                <a:cs typeface="Crimson Pro Bold" pitchFamily="34" charset="-120"/>
              </a:rPr>
              <a:t>Covered insurance types</a:t>
            </a:r>
            <a:endParaRPr lang="en-US" sz="2000" dirty="0">
              <a:latin typeface="Sitka Heading Semibold" pitchFamily="2" charset="0"/>
            </a:endParaRPr>
          </a:p>
        </p:txBody>
      </p:sp>
      <p:sp>
        <p:nvSpPr>
          <p:cNvPr id="5" name="Text 3"/>
          <p:cNvSpPr/>
          <p:nvPr/>
        </p:nvSpPr>
        <p:spPr>
          <a:xfrm>
            <a:off x="793790" y="3900488"/>
            <a:ext cx="13042821" cy="1433989"/>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43728"/>
                </a:solidFill>
                <a:latin typeface="Open Sans" pitchFamily="34" charset="0"/>
                <a:ea typeface="Open Sans" pitchFamily="34" charset="-122"/>
                <a:cs typeface="Open Sans" pitchFamily="34" charset="-120"/>
              </a:rPr>
              <a:t>Property Insurance</a:t>
            </a:r>
            <a:endParaRPr lang="en-US" sz="1600" dirty="0"/>
          </a:p>
          <a:p>
            <a:pPr marL="342900" indent="-342900" algn="l">
              <a:lnSpc>
                <a:spcPts val="2400"/>
              </a:lnSpc>
              <a:buSzPct val="100000"/>
              <a:buChar char="•"/>
            </a:pPr>
            <a:r>
              <a:rPr lang="en-US" sz="1600" dirty="0">
                <a:solidFill>
                  <a:srgbClr val="443728"/>
                </a:solidFill>
                <a:latin typeface="Open Sans" pitchFamily="34" charset="0"/>
                <a:ea typeface="Open Sans" pitchFamily="34" charset="-122"/>
                <a:cs typeface="Open Sans" pitchFamily="34" charset="-120"/>
              </a:rPr>
              <a:t>Liability Insurance</a:t>
            </a:r>
            <a:endParaRPr lang="en-US" sz="1600" dirty="0"/>
          </a:p>
          <a:p>
            <a:pPr marL="342900" indent="-342900" algn="l">
              <a:lnSpc>
                <a:spcPts val="2400"/>
              </a:lnSpc>
              <a:buSzPct val="100000"/>
              <a:buChar char="•"/>
            </a:pPr>
            <a:r>
              <a:rPr lang="en-US" sz="1600" dirty="0">
                <a:solidFill>
                  <a:srgbClr val="443728"/>
                </a:solidFill>
                <a:latin typeface="Open Sans" pitchFamily="34" charset="0"/>
                <a:ea typeface="Open Sans" pitchFamily="34" charset="-122"/>
                <a:cs typeface="Open Sans" pitchFamily="34" charset="-120"/>
              </a:rPr>
              <a:t>Workers' Compensation</a:t>
            </a:r>
            <a:endParaRPr lang="en-US" sz="1600" dirty="0"/>
          </a:p>
          <a:p>
            <a:pPr marL="342900" indent="-342900" algn="l">
              <a:lnSpc>
                <a:spcPts val="2400"/>
              </a:lnSpc>
              <a:buSzPct val="100000"/>
              <a:buChar char="•"/>
            </a:pPr>
            <a:r>
              <a:rPr lang="en-US" sz="1600" dirty="0">
                <a:solidFill>
                  <a:srgbClr val="443728"/>
                </a:solidFill>
                <a:latin typeface="Open Sans" pitchFamily="34" charset="0"/>
                <a:ea typeface="Open Sans" pitchFamily="34" charset="-122"/>
                <a:cs typeface="Open Sans" pitchFamily="34" charset="-120"/>
              </a:rPr>
              <a:t>Business Interruption</a:t>
            </a:r>
            <a:endParaRPr lang="en-US" sz="1600" dirty="0"/>
          </a:p>
        </p:txBody>
      </p:sp>
      <p:sp>
        <p:nvSpPr>
          <p:cNvPr id="6" name="Text 4"/>
          <p:cNvSpPr/>
          <p:nvPr/>
        </p:nvSpPr>
        <p:spPr>
          <a:xfrm>
            <a:off x="793790" y="5609987"/>
            <a:ext cx="2551748" cy="318849"/>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Sitka Heading Semibold" pitchFamily="2" charset="0"/>
                <a:ea typeface="Crimson Pro Bold" pitchFamily="34" charset="-122"/>
                <a:cs typeface="Crimson Pro Bold" pitchFamily="34" charset="-120"/>
              </a:rPr>
              <a:t>Objective</a:t>
            </a:r>
            <a:endParaRPr lang="en-US" sz="2000" dirty="0">
              <a:latin typeface="Sitka Heading Semibold" pitchFamily="2" charset="0"/>
            </a:endParaRPr>
          </a:p>
        </p:txBody>
      </p:sp>
      <p:sp>
        <p:nvSpPr>
          <p:cNvPr id="7" name="Text 5"/>
          <p:cNvSpPr/>
          <p:nvPr/>
        </p:nvSpPr>
        <p:spPr>
          <a:xfrm>
            <a:off x="793790" y="6204347"/>
            <a:ext cx="13042821" cy="1241108"/>
          </a:xfrm>
          <a:prstGeom prst="rect">
            <a:avLst/>
          </a:prstGeom>
          <a:noFill/>
          <a:ln/>
        </p:spPr>
        <p:txBody>
          <a:bodyPr wrap="square" lIns="0" tIns="0" rIns="0" bIns="0" rtlCol="0" anchor="t"/>
          <a:lstStyle/>
          <a:p>
            <a:pPr marL="0" indent="0" algn="l">
              <a:lnSpc>
                <a:spcPts val="2400"/>
              </a:lnSpc>
              <a:buNone/>
            </a:pPr>
            <a:r>
              <a:rPr lang="en-US" sz="1600" dirty="0">
                <a:solidFill>
                  <a:srgbClr val="443728"/>
                </a:solidFill>
                <a:latin typeface="Open Sans" pitchFamily="34" charset="0"/>
                <a:ea typeface="Open Sans" pitchFamily="34" charset="-122"/>
                <a:cs typeface="Open Sans" pitchFamily="34" charset="-120"/>
              </a:rPr>
              <a:t>This system is designed to unify commercial claims workflows by connecting data across legacy platforms, automating complex policy rule evaluation, and embedding compliance checks. The objective is to reduce processing time and errors, improve transparency for adjusters and policyholders, and lower operational costs—ultimately accelerating fair claim resolution and raising customer satisfaction for commercial insurance operations.</a:t>
            </a:r>
            <a:endParaRPr lang="en-US" sz="1600" dirty="0"/>
          </a:p>
        </p:txBody>
      </p:sp>
      <p:pic>
        <p:nvPicPr>
          <p:cNvPr id="8" name="Picture 7">
            <a:extLst>
              <a:ext uri="{FF2B5EF4-FFF2-40B4-BE49-F238E27FC236}">
                <a16:creationId xmlns:a16="http://schemas.microsoft.com/office/drawing/2014/main" id="{AAEF1D5B-0748-E423-1FE4-E401C8E29C06}"/>
              </a:ext>
            </a:extLst>
          </p:cNvPr>
          <p:cNvPicPr>
            <a:picLocks noChangeAspect="1"/>
          </p:cNvPicPr>
          <p:nvPr/>
        </p:nvPicPr>
        <p:blipFill>
          <a:blip r:embed="rId3"/>
          <a:stretch>
            <a:fillRect/>
          </a:stretch>
        </p:blipFill>
        <p:spPr>
          <a:xfrm>
            <a:off x="12420493" y="7635794"/>
            <a:ext cx="2209907" cy="5811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61298"/>
            <a:ext cx="5799058" cy="566976"/>
          </a:xfrm>
          <a:prstGeom prst="rect">
            <a:avLst/>
          </a:prstGeom>
          <a:noFill/>
          <a:ln/>
        </p:spPr>
        <p:txBody>
          <a:bodyPr wrap="none" lIns="0" tIns="0" rIns="0" bIns="0" rtlCol="0" anchor="t"/>
          <a:lstStyle/>
          <a:p>
            <a:pPr marL="0" indent="0" algn="l">
              <a:lnSpc>
                <a:spcPts val="4450"/>
              </a:lnSpc>
              <a:buNone/>
            </a:pPr>
            <a:r>
              <a:rPr lang="en-US" sz="3550" b="1" dirty="0">
                <a:solidFill>
                  <a:srgbClr val="443728"/>
                </a:solidFill>
                <a:latin typeface="Sitka Heading Semibold" pitchFamily="2" charset="0"/>
                <a:ea typeface="Crimson Pro Bold" pitchFamily="34" charset="-122"/>
                <a:cs typeface="Crimson Pro Bold" pitchFamily="34" charset="-120"/>
              </a:rPr>
              <a:t>System Architecture Overview</a:t>
            </a:r>
            <a:endParaRPr lang="en-US" sz="3550" dirty="0"/>
          </a:p>
        </p:txBody>
      </p:sp>
      <p:sp>
        <p:nvSpPr>
          <p:cNvPr id="3" name="Shape 1"/>
          <p:cNvSpPr/>
          <p:nvPr/>
        </p:nvSpPr>
        <p:spPr>
          <a:xfrm>
            <a:off x="793790" y="1718548"/>
            <a:ext cx="6448782" cy="1960602"/>
          </a:xfrm>
          <a:prstGeom prst="roundRect">
            <a:avLst>
              <a:gd name="adj" fmla="val 3887"/>
            </a:avLst>
          </a:prstGeom>
          <a:solidFill>
            <a:srgbClr val="EBE2E0"/>
          </a:solidFill>
          <a:ln w="7620">
            <a:solidFill>
              <a:srgbClr val="D1C8C6"/>
            </a:solidFill>
            <a:prstDash val="solid"/>
          </a:ln>
        </p:spPr>
      </p:sp>
      <p:sp>
        <p:nvSpPr>
          <p:cNvPr id="4" name="Shape 2"/>
          <p:cNvSpPr/>
          <p:nvPr/>
        </p:nvSpPr>
        <p:spPr>
          <a:xfrm>
            <a:off x="982861" y="1907619"/>
            <a:ext cx="544354" cy="544354"/>
          </a:xfrm>
          <a:prstGeom prst="roundRect">
            <a:avLst>
              <a:gd name="adj" fmla="val 16796213"/>
            </a:avLst>
          </a:prstGeom>
          <a:solidFill>
            <a:srgbClr val="835E54"/>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2523" y="2057281"/>
            <a:ext cx="244912" cy="244912"/>
          </a:xfrm>
          <a:prstGeom prst="rect">
            <a:avLst/>
          </a:prstGeom>
        </p:spPr>
      </p:pic>
      <p:sp>
        <p:nvSpPr>
          <p:cNvPr id="6" name="Text 3"/>
          <p:cNvSpPr/>
          <p:nvPr/>
        </p:nvSpPr>
        <p:spPr>
          <a:xfrm>
            <a:off x="982861" y="2597110"/>
            <a:ext cx="2268260" cy="283488"/>
          </a:xfrm>
          <a:prstGeom prst="rect">
            <a:avLst/>
          </a:prstGeom>
          <a:noFill/>
          <a:ln/>
        </p:spPr>
        <p:txBody>
          <a:bodyPr wrap="none" lIns="0" tIns="0" rIns="0" bIns="0" rtlCol="0" anchor="t"/>
          <a:lstStyle/>
          <a:p>
            <a:pPr marL="0" indent="0" algn="l">
              <a:lnSpc>
                <a:spcPts val="2200"/>
              </a:lnSpc>
              <a:buNone/>
            </a:pPr>
            <a:r>
              <a:rPr lang="en-US" sz="1750" b="1" dirty="0">
                <a:solidFill>
                  <a:srgbClr val="443728"/>
                </a:solidFill>
                <a:latin typeface="Sitka Heading Semibold" pitchFamily="2" charset="0"/>
                <a:ea typeface="Crimson Pro Bold" pitchFamily="34" charset="-122"/>
                <a:cs typeface="Crimson Pro Bold" pitchFamily="34" charset="-120"/>
              </a:rPr>
              <a:t>Frontend — Angular</a:t>
            </a:r>
            <a:endParaRPr lang="en-US" sz="1750" dirty="0">
              <a:latin typeface="Sitka Heading Semibold" pitchFamily="2" charset="0"/>
            </a:endParaRPr>
          </a:p>
        </p:txBody>
      </p:sp>
      <p:sp>
        <p:nvSpPr>
          <p:cNvPr id="7" name="Text 4"/>
          <p:cNvSpPr/>
          <p:nvPr/>
        </p:nvSpPr>
        <p:spPr>
          <a:xfrm>
            <a:off x="982861" y="2967633"/>
            <a:ext cx="6070640" cy="522446"/>
          </a:xfrm>
          <a:prstGeom prst="rect">
            <a:avLst/>
          </a:prstGeom>
          <a:noFill/>
          <a:ln/>
        </p:spPr>
        <p:txBody>
          <a:bodyPr wrap="square" lIns="0" tIns="0" rIns="0" bIns="0" rtlCol="0" anchor="t"/>
          <a:lstStyle/>
          <a:p>
            <a:pPr marL="0" indent="0" algn="l">
              <a:lnSpc>
                <a:spcPts val="2050"/>
              </a:lnSpc>
              <a:buNone/>
            </a:pPr>
            <a:r>
              <a:rPr lang="en-US" sz="1400" dirty="0">
                <a:solidFill>
                  <a:srgbClr val="443728"/>
                </a:solidFill>
                <a:latin typeface="Open Sans" pitchFamily="34" charset="0"/>
                <a:ea typeface="Open Sans" pitchFamily="34" charset="-122"/>
                <a:cs typeface="Open Sans" pitchFamily="34" charset="-120"/>
              </a:rPr>
              <a:t>Web portal built with Angular: reusable components and pages for customers and agents</a:t>
            </a:r>
            <a:endParaRPr lang="en-US" sz="1400" dirty="0"/>
          </a:p>
        </p:txBody>
      </p:sp>
      <p:sp>
        <p:nvSpPr>
          <p:cNvPr id="8" name="Shape 5"/>
          <p:cNvSpPr/>
          <p:nvPr/>
        </p:nvSpPr>
        <p:spPr>
          <a:xfrm>
            <a:off x="7387709" y="1718548"/>
            <a:ext cx="6448901" cy="1960602"/>
          </a:xfrm>
          <a:prstGeom prst="roundRect">
            <a:avLst>
              <a:gd name="adj" fmla="val 3887"/>
            </a:avLst>
          </a:prstGeom>
          <a:solidFill>
            <a:srgbClr val="EBE2E0"/>
          </a:solidFill>
          <a:ln w="7620">
            <a:solidFill>
              <a:srgbClr val="D1C8C6"/>
            </a:solidFill>
            <a:prstDash val="solid"/>
          </a:ln>
        </p:spPr>
      </p:sp>
      <p:sp>
        <p:nvSpPr>
          <p:cNvPr id="9" name="Shape 6"/>
          <p:cNvSpPr/>
          <p:nvPr/>
        </p:nvSpPr>
        <p:spPr>
          <a:xfrm>
            <a:off x="7576780" y="1907619"/>
            <a:ext cx="544354" cy="544354"/>
          </a:xfrm>
          <a:prstGeom prst="roundRect">
            <a:avLst>
              <a:gd name="adj" fmla="val 16796213"/>
            </a:avLst>
          </a:prstGeom>
          <a:solidFill>
            <a:srgbClr val="835E54"/>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26442" y="2057281"/>
            <a:ext cx="244912" cy="244912"/>
          </a:xfrm>
          <a:prstGeom prst="rect">
            <a:avLst/>
          </a:prstGeom>
        </p:spPr>
      </p:pic>
      <p:sp>
        <p:nvSpPr>
          <p:cNvPr id="11" name="Text 7"/>
          <p:cNvSpPr/>
          <p:nvPr/>
        </p:nvSpPr>
        <p:spPr>
          <a:xfrm>
            <a:off x="7576780" y="2597110"/>
            <a:ext cx="2483287" cy="283488"/>
          </a:xfrm>
          <a:prstGeom prst="rect">
            <a:avLst/>
          </a:prstGeom>
          <a:noFill/>
          <a:ln/>
        </p:spPr>
        <p:txBody>
          <a:bodyPr wrap="none" lIns="0" tIns="0" rIns="0" bIns="0" rtlCol="0" anchor="t"/>
          <a:lstStyle/>
          <a:p>
            <a:pPr marL="0" indent="0" algn="l">
              <a:lnSpc>
                <a:spcPts val="2200"/>
              </a:lnSpc>
              <a:buNone/>
            </a:pPr>
            <a:r>
              <a:rPr lang="en-US" sz="1750" b="1" dirty="0">
                <a:solidFill>
                  <a:srgbClr val="443728"/>
                </a:solidFill>
                <a:latin typeface="Sitka Heading Semibold" pitchFamily="2" charset="0"/>
                <a:ea typeface="Crimson Pro Bold" pitchFamily="34" charset="-122"/>
                <a:cs typeface="Crimson Pro Bold" pitchFamily="34" charset="-120"/>
              </a:rPr>
              <a:t>Backend — Domain Layer</a:t>
            </a:r>
            <a:endParaRPr lang="en-US" sz="1750" dirty="0">
              <a:latin typeface="Sitka Heading Semibold" pitchFamily="2" charset="0"/>
            </a:endParaRPr>
          </a:p>
        </p:txBody>
      </p:sp>
      <p:sp>
        <p:nvSpPr>
          <p:cNvPr id="12" name="Text 8"/>
          <p:cNvSpPr/>
          <p:nvPr/>
        </p:nvSpPr>
        <p:spPr>
          <a:xfrm>
            <a:off x="7576780" y="2967633"/>
            <a:ext cx="6070759" cy="261223"/>
          </a:xfrm>
          <a:prstGeom prst="rect">
            <a:avLst/>
          </a:prstGeom>
          <a:noFill/>
          <a:ln/>
        </p:spPr>
        <p:txBody>
          <a:bodyPr wrap="none" lIns="0" tIns="0" rIns="0" bIns="0" rtlCol="0" anchor="t"/>
          <a:lstStyle/>
          <a:p>
            <a:pPr marL="0" indent="0" algn="l">
              <a:lnSpc>
                <a:spcPts val="2050"/>
              </a:lnSpc>
              <a:buNone/>
            </a:pPr>
            <a:r>
              <a:rPr lang="en-US" sz="1400" dirty="0">
                <a:solidFill>
                  <a:srgbClr val="443728"/>
                </a:solidFill>
                <a:latin typeface="Open Sans" pitchFamily="34" charset="0"/>
                <a:ea typeface="Open Sans" pitchFamily="34" charset="-122"/>
                <a:cs typeface="Open Sans" pitchFamily="34" charset="-120"/>
              </a:rPr>
              <a:t>Core business entities and domain logic: policies, claims, and rules</a:t>
            </a:r>
            <a:endParaRPr lang="en-US" sz="1400" dirty="0"/>
          </a:p>
        </p:txBody>
      </p:sp>
      <p:sp>
        <p:nvSpPr>
          <p:cNvPr id="13" name="Shape 9"/>
          <p:cNvSpPr/>
          <p:nvPr/>
        </p:nvSpPr>
        <p:spPr>
          <a:xfrm>
            <a:off x="793790" y="3824288"/>
            <a:ext cx="6448782" cy="1699379"/>
          </a:xfrm>
          <a:prstGeom prst="roundRect">
            <a:avLst>
              <a:gd name="adj" fmla="val 4485"/>
            </a:avLst>
          </a:prstGeom>
          <a:solidFill>
            <a:srgbClr val="EBE2E0"/>
          </a:solidFill>
          <a:ln w="7620">
            <a:solidFill>
              <a:srgbClr val="D1C8C6"/>
            </a:solidFill>
            <a:prstDash val="solid"/>
          </a:ln>
        </p:spPr>
      </p:sp>
      <p:sp>
        <p:nvSpPr>
          <p:cNvPr id="14" name="Shape 10"/>
          <p:cNvSpPr/>
          <p:nvPr/>
        </p:nvSpPr>
        <p:spPr>
          <a:xfrm>
            <a:off x="982861" y="4013359"/>
            <a:ext cx="544354" cy="544354"/>
          </a:xfrm>
          <a:prstGeom prst="roundRect">
            <a:avLst>
              <a:gd name="adj" fmla="val 16796213"/>
            </a:avLst>
          </a:prstGeom>
          <a:solidFill>
            <a:srgbClr val="835E54"/>
          </a:solidFill>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32523" y="4163020"/>
            <a:ext cx="244912" cy="244912"/>
          </a:xfrm>
          <a:prstGeom prst="rect">
            <a:avLst/>
          </a:prstGeom>
        </p:spPr>
      </p:pic>
      <p:sp>
        <p:nvSpPr>
          <p:cNvPr id="16" name="Text 11"/>
          <p:cNvSpPr/>
          <p:nvPr/>
        </p:nvSpPr>
        <p:spPr>
          <a:xfrm>
            <a:off x="982861" y="4702850"/>
            <a:ext cx="3082171" cy="283488"/>
          </a:xfrm>
          <a:prstGeom prst="rect">
            <a:avLst/>
          </a:prstGeom>
          <a:noFill/>
          <a:ln/>
        </p:spPr>
        <p:txBody>
          <a:bodyPr wrap="none" lIns="0" tIns="0" rIns="0" bIns="0" rtlCol="0" anchor="t"/>
          <a:lstStyle/>
          <a:p>
            <a:pPr marL="0" indent="0" algn="l">
              <a:lnSpc>
                <a:spcPts val="2200"/>
              </a:lnSpc>
              <a:buNone/>
            </a:pPr>
            <a:r>
              <a:rPr lang="en-US" sz="1750" b="1" dirty="0">
                <a:solidFill>
                  <a:srgbClr val="443728"/>
                </a:solidFill>
                <a:latin typeface="Sitka Heading Semibold" pitchFamily="2" charset="0"/>
                <a:ea typeface="Crimson Pro Bold" pitchFamily="34" charset="-122"/>
                <a:cs typeface="Crimson Pro Bold" pitchFamily="34" charset="-120"/>
              </a:rPr>
              <a:t>Backend — Infrastructure Layer</a:t>
            </a:r>
            <a:endParaRPr lang="en-US" sz="1750" dirty="0">
              <a:latin typeface="Sitka Heading Semibold" pitchFamily="2" charset="0"/>
            </a:endParaRPr>
          </a:p>
        </p:txBody>
      </p:sp>
      <p:sp>
        <p:nvSpPr>
          <p:cNvPr id="17" name="Text 12"/>
          <p:cNvSpPr/>
          <p:nvPr/>
        </p:nvSpPr>
        <p:spPr>
          <a:xfrm>
            <a:off x="982861" y="5073372"/>
            <a:ext cx="6070640" cy="261223"/>
          </a:xfrm>
          <a:prstGeom prst="rect">
            <a:avLst/>
          </a:prstGeom>
          <a:noFill/>
          <a:ln/>
        </p:spPr>
        <p:txBody>
          <a:bodyPr wrap="none" lIns="0" tIns="0" rIns="0" bIns="0" rtlCol="0" anchor="t"/>
          <a:lstStyle/>
          <a:p>
            <a:pPr marL="0" indent="0" algn="l">
              <a:lnSpc>
                <a:spcPts val="2050"/>
              </a:lnSpc>
              <a:buNone/>
            </a:pPr>
            <a:r>
              <a:rPr lang="en-US" sz="1400" dirty="0">
                <a:solidFill>
                  <a:srgbClr val="443728"/>
                </a:solidFill>
                <a:latin typeface="Open Sans" pitchFamily="34" charset="0"/>
                <a:ea typeface="Open Sans" pitchFamily="34" charset="-122"/>
                <a:cs typeface="Open Sans" pitchFamily="34" charset="-120"/>
              </a:rPr>
              <a:t>Database, caching, logging, and external service integrations</a:t>
            </a:r>
            <a:endParaRPr lang="en-US" sz="1400" dirty="0"/>
          </a:p>
        </p:txBody>
      </p:sp>
      <p:sp>
        <p:nvSpPr>
          <p:cNvPr id="18" name="Shape 13"/>
          <p:cNvSpPr/>
          <p:nvPr/>
        </p:nvSpPr>
        <p:spPr>
          <a:xfrm>
            <a:off x="7387709" y="3824288"/>
            <a:ext cx="6448901" cy="1699379"/>
          </a:xfrm>
          <a:prstGeom prst="roundRect">
            <a:avLst>
              <a:gd name="adj" fmla="val 4485"/>
            </a:avLst>
          </a:prstGeom>
          <a:solidFill>
            <a:srgbClr val="EBE2E0"/>
          </a:solidFill>
          <a:ln w="7620">
            <a:solidFill>
              <a:srgbClr val="D1C8C6"/>
            </a:solidFill>
            <a:prstDash val="solid"/>
          </a:ln>
        </p:spPr>
      </p:sp>
      <p:sp>
        <p:nvSpPr>
          <p:cNvPr id="19" name="Shape 14"/>
          <p:cNvSpPr/>
          <p:nvPr/>
        </p:nvSpPr>
        <p:spPr>
          <a:xfrm>
            <a:off x="7576780" y="4013359"/>
            <a:ext cx="544354" cy="544354"/>
          </a:xfrm>
          <a:prstGeom prst="roundRect">
            <a:avLst>
              <a:gd name="adj" fmla="val 16796213"/>
            </a:avLst>
          </a:prstGeom>
          <a:solidFill>
            <a:srgbClr val="835E54"/>
          </a:solidFill>
          <a:ln/>
        </p:spPr>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26442" y="4163020"/>
            <a:ext cx="244912" cy="244912"/>
          </a:xfrm>
          <a:prstGeom prst="rect">
            <a:avLst/>
          </a:prstGeom>
        </p:spPr>
      </p:pic>
      <p:sp>
        <p:nvSpPr>
          <p:cNvPr id="21" name="Text 15"/>
          <p:cNvSpPr/>
          <p:nvPr/>
        </p:nvSpPr>
        <p:spPr>
          <a:xfrm>
            <a:off x="7576780" y="4702850"/>
            <a:ext cx="2834402" cy="283488"/>
          </a:xfrm>
          <a:prstGeom prst="rect">
            <a:avLst/>
          </a:prstGeom>
          <a:noFill/>
          <a:ln/>
        </p:spPr>
        <p:txBody>
          <a:bodyPr wrap="none" lIns="0" tIns="0" rIns="0" bIns="0" rtlCol="0" anchor="t"/>
          <a:lstStyle/>
          <a:p>
            <a:pPr marL="0" indent="0" algn="l">
              <a:lnSpc>
                <a:spcPts val="2200"/>
              </a:lnSpc>
              <a:buNone/>
            </a:pPr>
            <a:r>
              <a:rPr lang="en-US" sz="1750" b="1" dirty="0">
                <a:solidFill>
                  <a:srgbClr val="443728"/>
                </a:solidFill>
                <a:latin typeface="Sitka Heading Semibold" pitchFamily="2" charset="0"/>
                <a:ea typeface="Crimson Pro Bold" pitchFamily="34" charset="-122"/>
                <a:cs typeface="Crimson Pro Bold" pitchFamily="34" charset="-120"/>
              </a:rPr>
              <a:t>Backend — Application Layer</a:t>
            </a:r>
            <a:endParaRPr lang="en-US" sz="1750" dirty="0">
              <a:latin typeface="Sitka Heading Semibold" pitchFamily="2" charset="0"/>
            </a:endParaRPr>
          </a:p>
        </p:txBody>
      </p:sp>
      <p:sp>
        <p:nvSpPr>
          <p:cNvPr id="22" name="Text 16"/>
          <p:cNvSpPr/>
          <p:nvPr/>
        </p:nvSpPr>
        <p:spPr>
          <a:xfrm>
            <a:off x="7576780" y="5073372"/>
            <a:ext cx="6070759" cy="261223"/>
          </a:xfrm>
          <a:prstGeom prst="rect">
            <a:avLst/>
          </a:prstGeom>
          <a:noFill/>
          <a:ln/>
        </p:spPr>
        <p:txBody>
          <a:bodyPr wrap="none" lIns="0" tIns="0" rIns="0" bIns="0" rtlCol="0" anchor="t"/>
          <a:lstStyle/>
          <a:p>
            <a:pPr marL="0" indent="0" algn="l">
              <a:lnSpc>
                <a:spcPts val="2050"/>
              </a:lnSpc>
              <a:buNone/>
            </a:pPr>
            <a:r>
              <a:rPr lang="en-US" sz="1400" dirty="0">
                <a:solidFill>
                  <a:srgbClr val="443728"/>
                </a:solidFill>
                <a:latin typeface="Open Sans" pitchFamily="34" charset="0"/>
                <a:ea typeface="Open Sans" pitchFamily="34" charset="-122"/>
                <a:cs typeface="Open Sans" pitchFamily="34" charset="-120"/>
              </a:rPr>
              <a:t>Business logic, validation rules, and workflow orchestration</a:t>
            </a:r>
            <a:endParaRPr lang="en-US" sz="1400" dirty="0"/>
          </a:p>
        </p:txBody>
      </p:sp>
      <p:sp>
        <p:nvSpPr>
          <p:cNvPr id="23" name="Shape 17"/>
          <p:cNvSpPr/>
          <p:nvPr/>
        </p:nvSpPr>
        <p:spPr>
          <a:xfrm>
            <a:off x="793790" y="5668804"/>
            <a:ext cx="13042821" cy="1699379"/>
          </a:xfrm>
          <a:prstGeom prst="roundRect">
            <a:avLst>
              <a:gd name="adj" fmla="val 4485"/>
            </a:avLst>
          </a:prstGeom>
          <a:solidFill>
            <a:srgbClr val="EBE2E0"/>
          </a:solidFill>
          <a:ln w="7620">
            <a:solidFill>
              <a:srgbClr val="D1C8C6"/>
            </a:solidFill>
            <a:prstDash val="solid"/>
          </a:ln>
        </p:spPr>
      </p:sp>
      <p:sp>
        <p:nvSpPr>
          <p:cNvPr id="24" name="Shape 18"/>
          <p:cNvSpPr/>
          <p:nvPr/>
        </p:nvSpPr>
        <p:spPr>
          <a:xfrm>
            <a:off x="982861" y="5857875"/>
            <a:ext cx="544354" cy="544354"/>
          </a:xfrm>
          <a:prstGeom prst="roundRect">
            <a:avLst>
              <a:gd name="adj" fmla="val 16796213"/>
            </a:avLst>
          </a:prstGeom>
          <a:solidFill>
            <a:srgbClr val="835E54"/>
          </a:solidFill>
          <a:ln/>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32523" y="6007537"/>
            <a:ext cx="244912" cy="244912"/>
          </a:xfrm>
          <a:prstGeom prst="rect">
            <a:avLst/>
          </a:prstGeom>
        </p:spPr>
      </p:pic>
      <p:sp>
        <p:nvSpPr>
          <p:cNvPr id="26" name="Text 19"/>
          <p:cNvSpPr/>
          <p:nvPr/>
        </p:nvSpPr>
        <p:spPr>
          <a:xfrm>
            <a:off x="982861" y="6547366"/>
            <a:ext cx="2268260" cy="283488"/>
          </a:xfrm>
          <a:prstGeom prst="rect">
            <a:avLst/>
          </a:prstGeom>
          <a:noFill/>
          <a:ln/>
        </p:spPr>
        <p:txBody>
          <a:bodyPr wrap="none" lIns="0" tIns="0" rIns="0" bIns="0" rtlCol="0" anchor="t"/>
          <a:lstStyle/>
          <a:p>
            <a:pPr marL="0" indent="0" algn="l">
              <a:lnSpc>
                <a:spcPts val="2200"/>
              </a:lnSpc>
              <a:buNone/>
            </a:pPr>
            <a:r>
              <a:rPr lang="en-US" sz="1750" b="1" dirty="0">
                <a:solidFill>
                  <a:srgbClr val="443728"/>
                </a:solidFill>
                <a:latin typeface="Sitka Heading Semibold" pitchFamily="2" charset="0"/>
                <a:ea typeface="Crimson Pro Bold" pitchFamily="34" charset="-122"/>
                <a:cs typeface="Crimson Pro Bold" pitchFamily="34" charset="-120"/>
              </a:rPr>
              <a:t>Backend — API Layer</a:t>
            </a:r>
            <a:endParaRPr lang="en-US" sz="1750" dirty="0">
              <a:latin typeface="Sitka Heading Semibold" pitchFamily="2" charset="0"/>
            </a:endParaRPr>
          </a:p>
        </p:txBody>
      </p:sp>
      <p:sp>
        <p:nvSpPr>
          <p:cNvPr id="27" name="Text 20"/>
          <p:cNvSpPr/>
          <p:nvPr/>
        </p:nvSpPr>
        <p:spPr>
          <a:xfrm>
            <a:off x="982861" y="6917888"/>
            <a:ext cx="12664678" cy="261223"/>
          </a:xfrm>
          <a:prstGeom prst="rect">
            <a:avLst/>
          </a:prstGeom>
          <a:noFill/>
          <a:ln/>
        </p:spPr>
        <p:txBody>
          <a:bodyPr wrap="none" lIns="0" tIns="0" rIns="0" bIns="0" rtlCol="0" anchor="t"/>
          <a:lstStyle/>
          <a:p>
            <a:pPr marL="0" indent="0" algn="l">
              <a:lnSpc>
                <a:spcPts val="2050"/>
              </a:lnSpc>
              <a:buNone/>
            </a:pPr>
            <a:r>
              <a:rPr lang="en-US" sz="1400" dirty="0">
                <a:solidFill>
                  <a:srgbClr val="443728"/>
                </a:solidFill>
                <a:latin typeface="Open Sans" pitchFamily="34" charset="0"/>
                <a:ea typeface="Open Sans" pitchFamily="34" charset="-122"/>
                <a:cs typeface="Open Sans" pitchFamily="34" charset="-120"/>
              </a:rPr>
              <a:t>RESTful APIs exposing system functionality to the frontend and external clients</a:t>
            </a:r>
            <a:endParaRPr lang="en-US" sz="1400" dirty="0"/>
          </a:p>
        </p:txBody>
      </p:sp>
      <p:pic>
        <p:nvPicPr>
          <p:cNvPr id="28" name="Picture 27">
            <a:extLst>
              <a:ext uri="{FF2B5EF4-FFF2-40B4-BE49-F238E27FC236}">
                <a16:creationId xmlns:a16="http://schemas.microsoft.com/office/drawing/2014/main" id="{F2A18199-C576-D514-425F-E4819B25DB94}"/>
              </a:ext>
            </a:extLst>
          </p:cNvPr>
          <p:cNvPicPr>
            <a:picLocks noChangeAspect="1"/>
          </p:cNvPicPr>
          <p:nvPr/>
        </p:nvPicPr>
        <p:blipFill>
          <a:blip r:embed="rId13"/>
          <a:stretch>
            <a:fillRect/>
          </a:stretch>
        </p:blipFill>
        <p:spPr>
          <a:xfrm>
            <a:off x="12420493" y="7635794"/>
            <a:ext cx="2209907" cy="5811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504593"/>
            <a:ext cx="10070544" cy="708779"/>
          </a:xfrm>
          <a:prstGeom prst="rect">
            <a:avLst/>
          </a:prstGeom>
          <a:noFill/>
          <a:ln/>
        </p:spPr>
        <p:txBody>
          <a:bodyPr wrap="none" lIns="0" tIns="0" rIns="0" bIns="0" rtlCol="0" anchor="t"/>
          <a:lstStyle/>
          <a:p>
            <a:pPr marL="0" indent="0" algn="l">
              <a:lnSpc>
                <a:spcPts val="5550"/>
              </a:lnSpc>
              <a:buNone/>
            </a:pPr>
            <a:r>
              <a:rPr lang="en-US" sz="4450" b="1" dirty="0">
                <a:solidFill>
                  <a:srgbClr val="443728"/>
                </a:solidFill>
                <a:latin typeface="Sitka Heading Semibold" pitchFamily="2" charset="0"/>
                <a:ea typeface="Crimson Pro Bold" pitchFamily="34" charset="-122"/>
                <a:cs typeface="Crimson Pro Bold" pitchFamily="34" charset="-120"/>
              </a:rPr>
              <a:t>Key Roles in the Claims Processing System</a:t>
            </a:r>
            <a:endParaRPr lang="en-US" sz="4450" dirty="0">
              <a:latin typeface="Sitka Heading Semibold" pitchFamily="2" charset="0"/>
            </a:endParaRPr>
          </a:p>
        </p:txBody>
      </p:sp>
      <p:sp>
        <p:nvSpPr>
          <p:cNvPr id="3" name="Shape 1"/>
          <p:cNvSpPr/>
          <p:nvPr/>
        </p:nvSpPr>
        <p:spPr>
          <a:xfrm>
            <a:off x="793790" y="3022044"/>
            <a:ext cx="4196358" cy="30480"/>
          </a:xfrm>
          <a:prstGeom prst="rect">
            <a:avLst/>
          </a:prstGeom>
          <a:solidFill>
            <a:srgbClr val="835E54"/>
          </a:solidFill>
          <a:ln/>
        </p:spPr>
      </p:sp>
      <p:sp>
        <p:nvSpPr>
          <p:cNvPr id="4" name="Text 2"/>
          <p:cNvSpPr/>
          <p:nvPr/>
        </p:nvSpPr>
        <p:spPr>
          <a:xfrm>
            <a:off x="793790" y="319635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Customer</a:t>
            </a:r>
            <a:endParaRPr lang="en-US" sz="2200" dirty="0">
              <a:latin typeface="Sitka Heading Semibold" pitchFamily="2" charset="0"/>
            </a:endParaRPr>
          </a:p>
        </p:txBody>
      </p:sp>
      <p:sp>
        <p:nvSpPr>
          <p:cNvPr id="5" name="Text 3"/>
          <p:cNvSpPr/>
          <p:nvPr/>
        </p:nvSpPr>
        <p:spPr>
          <a:xfrm>
            <a:off x="793790" y="3686770"/>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Submit claims through digital portals and track real-time status updates</a:t>
            </a:r>
            <a:endParaRPr lang="en-US" sz="1750" dirty="0"/>
          </a:p>
        </p:txBody>
      </p:sp>
      <p:sp>
        <p:nvSpPr>
          <p:cNvPr id="6" name="Shape 4"/>
          <p:cNvSpPr/>
          <p:nvPr/>
        </p:nvSpPr>
        <p:spPr>
          <a:xfrm>
            <a:off x="5216962" y="3022044"/>
            <a:ext cx="4196358" cy="30480"/>
          </a:xfrm>
          <a:prstGeom prst="rect">
            <a:avLst/>
          </a:prstGeom>
          <a:solidFill>
            <a:srgbClr val="835E54"/>
          </a:solidFill>
          <a:ln/>
        </p:spPr>
      </p:sp>
      <p:sp>
        <p:nvSpPr>
          <p:cNvPr id="7" name="Text 5"/>
          <p:cNvSpPr/>
          <p:nvPr/>
        </p:nvSpPr>
        <p:spPr>
          <a:xfrm>
            <a:off x="5216962" y="319635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Admin</a:t>
            </a:r>
            <a:endParaRPr lang="en-US" sz="2200" dirty="0">
              <a:latin typeface="Sitka Heading Semibold" pitchFamily="2" charset="0"/>
            </a:endParaRPr>
          </a:p>
        </p:txBody>
      </p:sp>
      <p:sp>
        <p:nvSpPr>
          <p:cNvPr id="8" name="Text 6"/>
          <p:cNvSpPr/>
          <p:nvPr/>
        </p:nvSpPr>
        <p:spPr>
          <a:xfrm>
            <a:off x="5216962" y="3686770"/>
            <a:ext cx="4196358"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Maintain system infrastructure, security protocols, and performance monitoring</a:t>
            </a:r>
            <a:endParaRPr lang="en-US" sz="1750" dirty="0"/>
          </a:p>
        </p:txBody>
      </p:sp>
      <p:sp>
        <p:nvSpPr>
          <p:cNvPr id="9" name="Shape 7"/>
          <p:cNvSpPr/>
          <p:nvPr/>
        </p:nvSpPr>
        <p:spPr>
          <a:xfrm>
            <a:off x="9640133" y="3022044"/>
            <a:ext cx="4196358" cy="30480"/>
          </a:xfrm>
          <a:prstGeom prst="rect">
            <a:avLst/>
          </a:prstGeom>
          <a:solidFill>
            <a:srgbClr val="835E54"/>
          </a:solidFill>
          <a:ln/>
        </p:spPr>
      </p:sp>
      <p:sp>
        <p:nvSpPr>
          <p:cNvPr id="10" name="Text 8"/>
          <p:cNvSpPr/>
          <p:nvPr/>
        </p:nvSpPr>
        <p:spPr>
          <a:xfrm>
            <a:off x="9640133" y="319635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Agent</a:t>
            </a:r>
            <a:endParaRPr lang="en-US" sz="2200" dirty="0">
              <a:latin typeface="Sitka Heading Semibold" pitchFamily="2" charset="0"/>
            </a:endParaRPr>
          </a:p>
        </p:txBody>
      </p:sp>
      <p:sp>
        <p:nvSpPr>
          <p:cNvPr id="11" name="Text 9"/>
          <p:cNvSpPr/>
          <p:nvPr/>
        </p:nvSpPr>
        <p:spPr>
          <a:xfrm>
            <a:off x="9640133" y="3686770"/>
            <a:ext cx="4196358"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Manage client policies, assist with claims, and conduct preliminary reviews</a:t>
            </a:r>
            <a:endParaRPr lang="en-US" sz="1750" dirty="0"/>
          </a:p>
        </p:txBody>
      </p:sp>
      <p:sp>
        <p:nvSpPr>
          <p:cNvPr id="12" name="Shape 10"/>
          <p:cNvSpPr/>
          <p:nvPr/>
        </p:nvSpPr>
        <p:spPr>
          <a:xfrm>
            <a:off x="806490" y="5527357"/>
            <a:ext cx="13042702" cy="30480"/>
          </a:xfrm>
          <a:prstGeom prst="rect">
            <a:avLst/>
          </a:prstGeom>
          <a:solidFill>
            <a:srgbClr val="835E54"/>
          </a:solidFill>
          <a:ln/>
        </p:spPr>
      </p:sp>
      <p:sp>
        <p:nvSpPr>
          <p:cNvPr id="13" name="Text 11"/>
          <p:cNvSpPr/>
          <p:nvPr/>
        </p:nvSpPr>
        <p:spPr>
          <a:xfrm>
            <a:off x="793790" y="570166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Claims Officer</a:t>
            </a:r>
            <a:endParaRPr lang="en-US" sz="2200" dirty="0">
              <a:latin typeface="Sitka Heading Semibold" pitchFamily="2" charset="0"/>
            </a:endParaRPr>
          </a:p>
        </p:txBody>
      </p:sp>
      <p:sp>
        <p:nvSpPr>
          <p:cNvPr id="14" name="Text 12"/>
          <p:cNvSpPr/>
          <p:nvPr/>
        </p:nvSpPr>
        <p:spPr>
          <a:xfrm>
            <a:off x="793790" y="6192083"/>
            <a:ext cx="13042702" cy="362903"/>
          </a:xfrm>
          <a:prstGeom prst="rect">
            <a:avLst/>
          </a:prstGeom>
          <a:noFill/>
          <a:ln/>
        </p:spPr>
        <p:txBody>
          <a:bodyPr wrap="non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Validate claim data, adjudicate decisions, and approve payment amounts</a:t>
            </a:r>
            <a:endParaRPr lang="en-US" sz="1750" dirty="0"/>
          </a:p>
        </p:txBody>
      </p:sp>
      <p:pic>
        <p:nvPicPr>
          <p:cNvPr id="15" name="Picture 14">
            <a:extLst>
              <a:ext uri="{FF2B5EF4-FFF2-40B4-BE49-F238E27FC236}">
                <a16:creationId xmlns:a16="http://schemas.microsoft.com/office/drawing/2014/main" id="{1B4D8F87-4E42-C1AA-F2BD-209CF267D01C}"/>
              </a:ext>
            </a:extLst>
          </p:cNvPr>
          <p:cNvPicPr>
            <a:picLocks noChangeAspect="1"/>
          </p:cNvPicPr>
          <p:nvPr/>
        </p:nvPicPr>
        <p:blipFill>
          <a:blip r:embed="rId3"/>
          <a:stretch>
            <a:fillRect/>
          </a:stretch>
        </p:blipFill>
        <p:spPr>
          <a:xfrm>
            <a:off x="12420493" y="7635794"/>
            <a:ext cx="2209907" cy="58110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689378"/>
            <a:ext cx="7783235" cy="708779"/>
          </a:xfrm>
          <a:prstGeom prst="rect">
            <a:avLst/>
          </a:prstGeom>
          <a:noFill/>
          <a:ln/>
        </p:spPr>
        <p:txBody>
          <a:bodyPr wrap="none" lIns="0" tIns="0" rIns="0" bIns="0" rtlCol="0" anchor="t"/>
          <a:lstStyle/>
          <a:p>
            <a:pPr marL="0" indent="0" algn="l">
              <a:lnSpc>
                <a:spcPts val="5550"/>
              </a:lnSpc>
              <a:buNone/>
            </a:pPr>
            <a:r>
              <a:rPr lang="en-US" sz="4450" b="1" dirty="0">
                <a:solidFill>
                  <a:srgbClr val="443728"/>
                </a:solidFill>
                <a:latin typeface="Sitka Heading Semibold" pitchFamily="2" charset="0"/>
                <a:ea typeface="Crimson Pro Bold" pitchFamily="34" charset="-122"/>
                <a:cs typeface="Crimson Pro Bold" pitchFamily="34" charset="-120"/>
              </a:rPr>
              <a:t>System Modules &amp; External APIs</a:t>
            </a:r>
            <a:endParaRPr lang="en-US" sz="4450" dirty="0">
              <a:latin typeface="Sitka Heading Semibold" pitchFamily="2" charset="0"/>
            </a:endParaRPr>
          </a:p>
        </p:txBody>
      </p:sp>
      <p:sp>
        <p:nvSpPr>
          <p:cNvPr id="3" name="Shape 1"/>
          <p:cNvSpPr/>
          <p:nvPr/>
        </p:nvSpPr>
        <p:spPr>
          <a:xfrm>
            <a:off x="793790" y="2851785"/>
            <a:ext cx="6407944" cy="1730812"/>
          </a:xfrm>
          <a:prstGeom prst="roundRect">
            <a:avLst>
              <a:gd name="adj" fmla="val 8453"/>
            </a:avLst>
          </a:prstGeom>
          <a:solidFill>
            <a:srgbClr val="FFFCFA"/>
          </a:solidFill>
          <a:ln w="30480">
            <a:solidFill>
              <a:srgbClr val="D1C8C6"/>
            </a:solidFill>
            <a:prstDash val="solid"/>
          </a:ln>
        </p:spPr>
      </p:sp>
      <p:sp>
        <p:nvSpPr>
          <p:cNvPr id="4" name="Shape 2"/>
          <p:cNvSpPr/>
          <p:nvPr/>
        </p:nvSpPr>
        <p:spPr>
          <a:xfrm>
            <a:off x="763310" y="2851785"/>
            <a:ext cx="121920" cy="1730812"/>
          </a:xfrm>
          <a:prstGeom prst="roundRect">
            <a:avLst>
              <a:gd name="adj" fmla="val 78139"/>
            </a:avLst>
          </a:prstGeom>
          <a:solidFill>
            <a:srgbClr val="835E54"/>
          </a:solidFill>
          <a:ln/>
        </p:spPr>
      </p:sp>
      <p:sp>
        <p:nvSpPr>
          <p:cNvPr id="5" name="Text 3"/>
          <p:cNvSpPr/>
          <p:nvPr/>
        </p:nvSpPr>
        <p:spPr>
          <a:xfrm>
            <a:off x="1142524" y="3109079"/>
            <a:ext cx="3356729"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Policy Management Module</a:t>
            </a:r>
            <a:endParaRPr lang="en-US" sz="2200" dirty="0"/>
          </a:p>
        </p:txBody>
      </p:sp>
      <p:sp>
        <p:nvSpPr>
          <p:cNvPr id="6" name="Text 4"/>
          <p:cNvSpPr/>
          <p:nvPr/>
        </p:nvSpPr>
        <p:spPr>
          <a:xfrm>
            <a:off x="1142524" y="3599497"/>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Defines coverage terms, policy limits, and exclusions with rule engine support</a:t>
            </a:r>
            <a:endParaRPr lang="en-US" sz="1750" dirty="0"/>
          </a:p>
        </p:txBody>
      </p:sp>
      <p:sp>
        <p:nvSpPr>
          <p:cNvPr id="7" name="Shape 5"/>
          <p:cNvSpPr/>
          <p:nvPr/>
        </p:nvSpPr>
        <p:spPr>
          <a:xfrm>
            <a:off x="7428548" y="2851785"/>
            <a:ext cx="6408063" cy="1730812"/>
          </a:xfrm>
          <a:prstGeom prst="roundRect">
            <a:avLst>
              <a:gd name="adj" fmla="val 8453"/>
            </a:avLst>
          </a:prstGeom>
          <a:solidFill>
            <a:srgbClr val="FFFCFA"/>
          </a:solidFill>
          <a:ln w="30480">
            <a:solidFill>
              <a:srgbClr val="D1C8C6"/>
            </a:solidFill>
            <a:prstDash val="solid"/>
          </a:ln>
        </p:spPr>
      </p:sp>
      <p:sp>
        <p:nvSpPr>
          <p:cNvPr id="8" name="Shape 6"/>
          <p:cNvSpPr/>
          <p:nvPr/>
        </p:nvSpPr>
        <p:spPr>
          <a:xfrm>
            <a:off x="7398067" y="2851785"/>
            <a:ext cx="121920" cy="1730812"/>
          </a:xfrm>
          <a:prstGeom prst="roundRect">
            <a:avLst>
              <a:gd name="adj" fmla="val 78139"/>
            </a:avLst>
          </a:prstGeom>
          <a:solidFill>
            <a:srgbClr val="835E54"/>
          </a:solidFill>
          <a:ln/>
        </p:spPr>
      </p:sp>
      <p:sp>
        <p:nvSpPr>
          <p:cNvPr id="9" name="Text 7"/>
          <p:cNvSpPr/>
          <p:nvPr/>
        </p:nvSpPr>
        <p:spPr>
          <a:xfrm>
            <a:off x="7777282" y="3109079"/>
            <a:ext cx="3458289"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Claims Management Module</a:t>
            </a:r>
            <a:endParaRPr lang="en-US" sz="2200" dirty="0"/>
          </a:p>
        </p:txBody>
      </p:sp>
      <p:sp>
        <p:nvSpPr>
          <p:cNvPr id="10" name="Text 8"/>
          <p:cNvSpPr/>
          <p:nvPr/>
        </p:nvSpPr>
        <p:spPr>
          <a:xfrm>
            <a:off x="7777282" y="3599497"/>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Handles claim intake, document processing, validation, and adjudication workflows</a:t>
            </a:r>
            <a:endParaRPr lang="en-US" sz="1750" dirty="0"/>
          </a:p>
        </p:txBody>
      </p:sp>
      <p:sp>
        <p:nvSpPr>
          <p:cNvPr id="11" name="Shape 9"/>
          <p:cNvSpPr/>
          <p:nvPr/>
        </p:nvSpPr>
        <p:spPr>
          <a:xfrm>
            <a:off x="793790" y="4809411"/>
            <a:ext cx="6407944" cy="1730812"/>
          </a:xfrm>
          <a:prstGeom prst="roundRect">
            <a:avLst>
              <a:gd name="adj" fmla="val 8453"/>
            </a:avLst>
          </a:prstGeom>
          <a:solidFill>
            <a:srgbClr val="FFFCFA"/>
          </a:solidFill>
          <a:ln w="30480">
            <a:solidFill>
              <a:srgbClr val="D1C8C6"/>
            </a:solidFill>
            <a:prstDash val="solid"/>
          </a:ln>
        </p:spPr>
      </p:sp>
      <p:sp>
        <p:nvSpPr>
          <p:cNvPr id="12" name="Shape 10"/>
          <p:cNvSpPr/>
          <p:nvPr/>
        </p:nvSpPr>
        <p:spPr>
          <a:xfrm>
            <a:off x="763310" y="4809411"/>
            <a:ext cx="121920" cy="1730812"/>
          </a:xfrm>
          <a:prstGeom prst="roundRect">
            <a:avLst>
              <a:gd name="adj" fmla="val 78139"/>
            </a:avLst>
          </a:prstGeom>
          <a:solidFill>
            <a:srgbClr val="835E54"/>
          </a:solidFill>
          <a:ln/>
        </p:spPr>
      </p:sp>
      <p:sp>
        <p:nvSpPr>
          <p:cNvPr id="13" name="Text 11"/>
          <p:cNvSpPr/>
          <p:nvPr/>
        </p:nvSpPr>
        <p:spPr>
          <a:xfrm>
            <a:off x="1142524" y="5066705"/>
            <a:ext cx="3202900"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Invoice Generation Service</a:t>
            </a:r>
            <a:endParaRPr lang="en-US" sz="2200" dirty="0"/>
          </a:p>
        </p:txBody>
      </p:sp>
      <p:sp>
        <p:nvSpPr>
          <p:cNvPr id="14" name="Text 12"/>
          <p:cNvSpPr/>
          <p:nvPr/>
        </p:nvSpPr>
        <p:spPr>
          <a:xfrm>
            <a:off x="1142524" y="5557123"/>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Generates invoices and payment documents for approved claims</a:t>
            </a:r>
            <a:endParaRPr lang="en-US" sz="1750" dirty="0"/>
          </a:p>
        </p:txBody>
      </p:sp>
      <p:sp>
        <p:nvSpPr>
          <p:cNvPr id="15" name="Shape 13"/>
          <p:cNvSpPr/>
          <p:nvPr/>
        </p:nvSpPr>
        <p:spPr>
          <a:xfrm>
            <a:off x="7428548" y="4809411"/>
            <a:ext cx="6408063" cy="1730812"/>
          </a:xfrm>
          <a:prstGeom prst="roundRect">
            <a:avLst>
              <a:gd name="adj" fmla="val 8453"/>
            </a:avLst>
          </a:prstGeom>
          <a:solidFill>
            <a:srgbClr val="FFFCFA"/>
          </a:solidFill>
          <a:ln w="30480">
            <a:solidFill>
              <a:srgbClr val="D1C8C6"/>
            </a:solidFill>
            <a:prstDash val="solid"/>
          </a:ln>
        </p:spPr>
      </p:sp>
      <p:sp>
        <p:nvSpPr>
          <p:cNvPr id="16" name="Shape 14"/>
          <p:cNvSpPr/>
          <p:nvPr/>
        </p:nvSpPr>
        <p:spPr>
          <a:xfrm>
            <a:off x="7398067" y="4809411"/>
            <a:ext cx="121920" cy="1730812"/>
          </a:xfrm>
          <a:prstGeom prst="roundRect">
            <a:avLst>
              <a:gd name="adj" fmla="val 78139"/>
            </a:avLst>
          </a:prstGeom>
          <a:solidFill>
            <a:srgbClr val="835E54"/>
          </a:solidFill>
          <a:ln/>
        </p:spPr>
      </p:sp>
      <p:sp>
        <p:nvSpPr>
          <p:cNvPr id="17" name="Text 15"/>
          <p:cNvSpPr/>
          <p:nvPr/>
        </p:nvSpPr>
        <p:spPr>
          <a:xfrm>
            <a:off x="7777282" y="5066705"/>
            <a:ext cx="293691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Dashboard Notifications</a:t>
            </a:r>
            <a:endParaRPr lang="en-US" sz="2200" dirty="0"/>
          </a:p>
        </p:txBody>
      </p:sp>
      <p:sp>
        <p:nvSpPr>
          <p:cNvPr id="18" name="Text 16"/>
          <p:cNvSpPr/>
          <p:nvPr/>
        </p:nvSpPr>
        <p:spPr>
          <a:xfrm>
            <a:off x="7777282" y="5557123"/>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In-application notifications displayed on user dashboards for claim status updates</a:t>
            </a:r>
            <a:endParaRPr lang="en-US" sz="1750" dirty="0"/>
          </a:p>
        </p:txBody>
      </p:sp>
      <p:pic>
        <p:nvPicPr>
          <p:cNvPr id="19" name="Picture 18">
            <a:extLst>
              <a:ext uri="{FF2B5EF4-FFF2-40B4-BE49-F238E27FC236}">
                <a16:creationId xmlns:a16="http://schemas.microsoft.com/office/drawing/2014/main" id="{AB6FC7D9-CEF3-9064-1BB2-E005A3CE2913}"/>
              </a:ext>
            </a:extLst>
          </p:cNvPr>
          <p:cNvPicPr>
            <a:picLocks noChangeAspect="1"/>
          </p:cNvPicPr>
          <p:nvPr/>
        </p:nvPicPr>
        <p:blipFill>
          <a:blip r:embed="rId3"/>
          <a:stretch>
            <a:fillRect/>
          </a:stretch>
        </p:blipFill>
        <p:spPr>
          <a:xfrm>
            <a:off x="12420493" y="7635794"/>
            <a:ext cx="2209907" cy="5811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255633"/>
            <a:ext cx="8804791" cy="708779"/>
          </a:xfrm>
          <a:prstGeom prst="rect">
            <a:avLst/>
          </a:prstGeom>
          <a:noFill/>
          <a:ln/>
        </p:spPr>
        <p:txBody>
          <a:bodyPr wrap="none" lIns="0" tIns="0" rIns="0" bIns="0" rtlCol="0" anchor="t"/>
          <a:lstStyle/>
          <a:p>
            <a:pPr marL="0" indent="0" algn="l">
              <a:lnSpc>
                <a:spcPts val="5550"/>
              </a:lnSpc>
              <a:buNone/>
            </a:pPr>
            <a:r>
              <a:rPr lang="en-US" sz="4450" b="1" dirty="0">
                <a:solidFill>
                  <a:srgbClr val="443728"/>
                </a:solidFill>
                <a:latin typeface="Sitka Heading Semibold" pitchFamily="2" charset="0"/>
                <a:ea typeface="Crimson Pro Bold" pitchFamily="34" charset="-122"/>
                <a:cs typeface="Crimson Pro Bold" pitchFamily="34" charset="-120"/>
              </a:rPr>
              <a:t>Policy Management &amp; Configuration</a:t>
            </a:r>
            <a:endParaRPr lang="en-US" sz="4450" dirty="0">
              <a:latin typeface="Sitka Heading Semibold" pitchFamily="2" charset="0"/>
            </a:endParaRPr>
          </a:p>
        </p:txBody>
      </p:sp>
      <p:sp>
        <p:nvSpPr>
          <p:cNvPr id="3" name="Shape 1"/>
          <p:cNvSpPr/>
          <p:nvPr/>
        </p:nvSpPr>
        <p:spPr>
          <a:xfrm>
            <a:off x="793790" y="2538532"/>
            <a:ext cx="113348" cy="113348"/>
          </a:xfrm>
          <a:prstGeom prst="roundRect">
            <a:avLst>
              <a:gd name="adj" fmla="val 403360"/>
            </a:avLst>
          </a:prstGeom>
          <a:solidFill>
            <a:srgbClr val="835E54"/>
          </a:solidFill>
          <a:ln/>
        </p:spPr>
      </p:sp>
      <p:sp>
        <p:nvSpPr>
          <p:cNvPr id="4" name="Text 2"/>
          <p:cNvSpPr/>
          <p:nvPr/>
        </p:nvSpPr>
        <p:spPr>
          <a:xfrm>
            <a:off x="1133951" y="2418040"/>
            <a:ext cx="4088963"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Create &amp; manage policy templates</a:t>
            </a:r>
            <a:endParaRPr lang="en-US" sz="2200" dirty="0"/>
          </a:p>
        </p:txBody>
      </p:sp>
      <p:sp>
        <p:nvSpPr>
          <p:cNvPr id="5" name="Text 3"/>
          <p:cNvSpPr/>
          <p:nvPr/>
        </p:nvSpPr>
        <p:spPr>
          <a:xfrm>
            <a:off x="1133951" y="2908459"/>
            <a:ext cx="6039445"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Intuitive visual interface for building and reusing policy templates</a:t>
            </a:r>
            <a:endParaRPr lang="en-US" sz="1750" dirty="0"/>
          </a:p>
        </p:txBody>
      </p:sp>
      <p:sp>
        <p:nvSpPr>
          <p:cNvPr id="6" name="Shape 4"/>
          <p:cNvSpPr/>
          <p:nvPr/>
        </p:nvSpPr>
        <p:spPr>
          <a:xfrm>
            <a:off x="7456884" y="2538532"/>
            <a:ext cx="113348" cy="113348"/>
          </a:xfrm>
          <a:prstGeom prst="roundRect">
            <a:avLst>
              <a:gd name="adj" fmla="val 403360"/>
            </a:avLst>
          </a:prstGeom>
          <a:solidFill>
            <a:srgbClr val="835E54"/>
          </a:solidFill>
          <a:ln/>
        </p:spPr>
      </p:sp>
      <p:sp>
        <p:nvSpPr>
          <p:cNvPr id="7" name="Text 5"/>
          <p:cNvSpPr/>
          <p:nvPr/>
        </p:nvSpPr>
        <p:spPr>
          <a:xfrm>
            <a:off x="7797046" y="241804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Define coverage terms</a:t>
            </a:r>
            <a:endParaRPr lang="en-US" sz="2200" dirty="0"/>
          </a:p>
        </p:txBody>
      </p:sp>
      <p:sp>
        <p:nvSpPr>
          <p:cNvPr id="8" name="Text 6"/>
          <p:cNvSpPr/>
          <p:nvPr/>
        </p:nvSpPr>
        <p:spPr>
          <a:xfrm>
            <a:off x="7797046" y="2908459"/>
            <a:ext cx="6039564"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Specify limits, deductibles, and exclusions with structured fields</a:t>
            </a:r>
            <a:endParaRPr lang="en-US" sz="1750" dirty="0"/>
          </a:p>
        </p:txBody>
      </p:sp>
      <p:sp>
        <p:nvSpPr>
          <p:cNvPr id="9" name="Shape 7"/>
          <p:cNvSpPr/>
          <p:nvPr/>
        </p:nvSpPr>
        <p:spPr>
          <a:xfrm>
            <a:off x="793790" y="4208383"/>
            <a:ext cx="113348" cy="113348"/>
          </a:xfrm>
          <a:prstGeom prst="roundRect">
            <a:avLst>
              <a:gd name="adj" fmla="val 403360"/>
            </a:avLst>
          </a:prstGeom>
          <a:solidFill>
            <a:srgbClr val="835E54"/>
          </a:solidFill>
          <a:ln/>
        </p:spPr>
      </p:sp>
      <p:sp>
        <p:nvSpPr>
          <p:cNvPr id="10" name="Text 8"/>
          <p:cNvSpPr/>
          <p:nvPr/>
        </p:nvSpPr>
        <p:spPr>
          <a:xfrm>
            <a:off x="1133951" y="4087892"/>
            <a:ext cx="3361968"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Version control &amp; audit trail</a:t>
            </a:r>
            <a:endParaRPr lang="en-US" sz="2200" dirty="0"/>
          </a:p>
        </p:txBody>
      </p:sp>
      <p:sp>
        <p:nvSpPr>
          <p:cNvPr id="11" name="Text 9"/>
          <p:cNvSpPr/>
          <p:nvPr/>
        </p:nvSpPr>
        <p:spPr>
          <a:xfrm>
            <a:off x="1133951" y="4578310"/>
            <a:ext cx="6039445"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Complete history of policy changes with rollback and compare capabilities</a:t>
            </a:r>
            <a:endParaRPr lang="en-US" sz="1750" dirty="0"/>
          </a:p>
        </p:txBody>
      </p:sp>
      <p:sp>
        <p:nvSpPr>
          <p:cNvPr id="12" name="Shape 10"/>
          <p:cNvSpPr/>
          <p:nvPr/>
        </p:nvSpPr>
        <p:spPr>
          <a:xfrm>
            <a:off x="7456884" y="4208383"/>
            <a:ext cx="113348" cy="113348"/>
          </a:xfrm>
          <a:prstGeom prst="roundRect">
            <a:avLst>
              <a:gd name="adj" fmla="val 403360"/>
            </a:avLst>
          </a:prstGeom>
          <a:solidFill>
            <a:srgbClr val="835E54"/>
          </a:solidFill>
          <a:ln/>
        </p:spPr>
      </p:sp>
      <p:sp>
        <p:nvSpPr>
          <p:cNvPr id="13" name="Text 11"/>
          <p:cNvSpPr/>
          <p:nvPr/>
        </p:nvSpPr>
        <p:spPr>
          <a:xfrm>
            <a:off x="7797046" y="408789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Rule engine</a:t>
            </a:r>
            <a:endParaRPr lang="en-US" sz="2200" dirty="0"/>
          </a:p>
        </p:txBody>
      </p:sp>
      <p:sp>
        <p:nvSpPr>
          <p:cNvPr id="14" name="Text 12"/>
          <p:cNvSpPr/>
          <p:nvPr/>
        </p:nvSpPr>
        <p:spPr>
          <a:xfrm>
            <a:off x="7797046" y="4578310"/>
            <a:ext cx="6039564"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Support for complex conditions and policy exceptions via configurable rules</a:t>
            </a:r>
            <a:endParaRPr lang="en-US" sz="1750" dirty="0"/>
          </a:p>
        </p:txBody>
      </p:sp>
      <p:sp>
        <p:nvSpPr>
          <p:cNvPr id="15" name="Shape 13"/>
          <p:cNvSpPr/>
          <p:nvPr/>
        </p:nvSpPr>
        <p:spPr>
          <a:xfrm>
            <a:off x="793790" y="5878235"/>
            <a:ext cx="113348" cy="113348"/>
          </a:xfrm>
          <a:prstGeom prst="roundRect">
            <a:avLst>
              <a:gd name="adj" fmla="val 403360"/>
            </a:avLst>
          </a:prstGeom>
          <a:solidFill>
            <a:srgbClr val="835E54"/>
          </a:solidFill>
          <a:ln/>
        </p:spPr>
      </p:sp>
      <p:sp>
        <p:nvSpPr>
          <p:cNvPr id="16" name="Text 14"/>
          <p:cNvSpPr/>
          <p:nvPr/>
        </p:nvSpPr>
        <p:spPr>
          <a:xfrm>
            <a:off x="1133951" y="5757743"/>
            <a:ext cx="4062174"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Automated compliance validation</a:t>
            </a:r>
            <a:endParaRPr lang="en-US" sz="2200" dirty="0"/>
          </a:p>
        </p:txBody>
      </p:sp>
      <p:sp>
        <p:nvSpPr>
          <p:cNvPr id="17" name="Text 15"/>
          <p:cNvSpPr/>
          <p:nvPr/>
        </p:nvSpPr>
        <p:spPr>
          <a:xfrm>
            <a:off x="1133951" y="6248162"/>
            <a:ext cx="6039445"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Built-in checks to enforce regulatory requirements during creation and updates</a:t>
            </a:r>
            <a:endParaRPr lang="en-US" sz="1750" dirty="0"/>
          </a:p>
        </p:txBody>
      </p:sp>
      <p:sp>
        <p:nvSpPr>
          <p:cNvPr id="18" name="Shape 16"/>
          <p:cNvSpPr/>
          <p:nvPr/>
        </p:nvSpPr>
        <p:spPr>
          <a:xfrm>
            <a:off x="7456884" y="5878235"/>
            <a:ext cx="113348" cy="113348"/>
          </a:xfrm>
          <a:prstGeom prst="roundRect">
            <a:avLst>
              <a:gd name="adj" fmla="val 403360"/>
            </a:avLst>
          </a:prstGeom>
          <a:solidFill>
            <a:srgbClr val="835E54"/>
          </a:solidFill>
          <a:ln/>
        </p:spPr>
      </p:sp>
      <p:sp>
        <p:nvSpPr>
          <p:cNvPr id="19" name="Text 17"/>
          <p:cNvSpPr/>
          <p:nvPr/>
        </p:nvSpPr>
        <p:spPr>
          <a:xfrm>
            <a:off x="7797046" y="5757743"/>
            <a:ext cx="4924187"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Real-time status &amp; lifecycle management</a:t>
            </a:r>
            <a:endParaRPr lang="en-US" sz="2200" dirty="0"/>
          </a:p>
        </p:txBody>
      </p:sp>
      <p:sp>
        <p:nvSpPr>
          <p:cNvPr id="20" name="Text 18"/>
          <p:cNvSpPr/>
          <p:nvPr/>
        </p:nvSpPr>
        <p:spPr>
          <a:xfrm>
            <a:off x="7797046" y="6248162"/>
            <a:ext cx="6039564"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Track policy status across issuance, renewals, amendments, and cancellations</a:t>
            </a:r>
            <a:endParaRPr lang="en-US" sz="1750" dirty="0"/>
          </a:p>
        </p:txBody>
      </p:sp>
      <p:pic>
        <p:nvPicPr>
          <p:cNvPr id="21" name="Picture 20">
            <a:extLst>
              <a:ext uri="{FF2B5EF4-FFF2-40B4-BE49-F238E27FC236}">
                <a16:creationId xmlns:a16="http://schemas.microsoft.com/office/drawing/2014/main" id="{426F92A2-D47C-71D6-D49B-A883B02ABFD6}"/>
              </a:ext>
            </a:extLst>
          </p:cNvPr>
          <p:cNvPicPr>
            <a:picLocks noChangeAspect="1"/>
          </p:cNvPicPr>
          <p:nvPr/>
        </p:nvPicPr>
        <p:blipFill>
          <a:blip r:embed="rId3"/>
          <a:stretch>
            <a:fillRect/>
          </a:stretch>
        </p:blipFill>
        <p:spPr>
          <a:xfrm>
            <a:off x="12420493" y="7635794"/>
            <a:ext cx="2209907" cy="58110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075" y="623530"/>
            <a:ext cx="4808101" cy="495657"/>
          </a:xfrm>
          <a:prstGeom prst="rect">
            <a:avLst/>
          </a:prstGeom>
          <a:noFill/>
          <a:ln/>
        </p:spPr>
        <p:txBody>
          <a:bodyPr wrap="none" lIns="0" tIns="0" rIns="0" bIns="0" rtlCol="0" anchor="t"/>
          <a:lstStyle/>
          <a:p>
            <a:pPr marL="0" indent="0" algn="l">
              <a:lnSpc>
                <a:spcPts val="3900"/>
              </a:lnSpc>
              <a:buNone/>
            </a:pPr>
            <a:r>
              <a:rPr lang="en-US" sz="3100" b="1" dirty="0">
                <a:solidFill>
                  <a:srgbClr val="443728"/>
                </a:solidFill>
                <a:latin typeface="Sitka Heading Semibold" pitchFamily="2" charset="0"/>
                <a:ea typeface="Crimson Pro Bold" pitchFamily="34" charset="-122"/>
                <a:cs typeface="Crimson Pro Bold" pitchFamily="34" charset="-120"/>
              </a:rPr>
              <a:t>Claims Processing Workflow</a:t>
            </a:r>
            <a:endParaRPr lang="en-US" sz="3100" dirty="0">
              <a:latin typeface="Sitka Heading Semibold" pitchFamily="2" charset="0"/>
            </a:endParaRPr>
          </a:p>
        </p:txBody>
      </p:sp>
      <p:sp>
        <p:nvSpPr>
          <p:cNvPr id="3" name="Shape 1"/>
          <p:cNvSpPr/>
          <p:nvPr/>
        </p:nvSpPr>
        <p:spPr>
          <a:xfrm>
            <a:off x="951667" y="1578888"/>
            <a:ext cx="158591" cy="713780"/>
          </a:xfrm>
          <a:prstGeom prst="roundRect">
            <a:avLst>
              <a:gd name="adj" fmla="val 42011"/>
            </a:avLst>
          </a:prstGeom>
          <a:solidFill>
            <a:srgbClr val="EBE2E0"/>
          </a:solidFill>
          <a:ln w="7620">
            <a:solidFill>
              <a:srgbClr val="D1C8C6"/>
            </a:solidFill>
            <a:prstDash val="solid"/>
          </a:ln>
        </p:spPr>
      </p:sp>
      <p:sp>
        <p:nvSpPr>
          <p:cNvPr id="4" name="Shape 2"/>
          <p:cNvSpPr/>
          <p:nvPr/>
        </p:nvSpPr>
        <p:spPr>
          <a:xfrm>
            <a:off x="793075" y="1474827"/>
            <a:ext cx="475893" cy="475893"/>
          </a:xfrm>
          <a:prstGeom prst="roundRect">
            <a:avLst>
              <a:gd name="adj" fmla="val 96072"/>
            </a:avLst>
          </a:prstGeom>
          <a:solidFill>
            <a:srgbClr val="EBE2E0"/>
          </a:solidFill>
          <a:ln w="7620">
            <a:solidFill>
              <a:srgbClr val="D1C8C6"/>
            </a:solidFill>
            <a:prstDash val="solid"/>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019" y="1593890"/>
            <a:ext cx="237887" cy="237887"/>
          </a:xfrm>
          <a:prstGeom prst="rect">
            <a:avLst/>
          </a:prstGeom>
        </p:spPr>
      </p:pic>
      <p:sp>
        <p:nvSpPr>
          <p:cNvPr id="6" name="Text 3"/>
          <p:cNvSpPr/>
          <p:nvPr/>
        </p:nvSpPr>
        <p:spPr>
          <a:xfrm>
            <a:off x="1379815" y="1499592"/>
            <a:ext cx="1982867" cy="247769"/>
          </a:xfrm>
          <a:prstGeom prst="rect">
            <a:avLst/>
          </a:prstGeom>
          <a:noFill/>
          <a:ln/>
        </p:spPr>
        <p:txBody>
          <a:bodyPr wrap="none" lIns="0" tIns="0" rIns="0" bIns="0" rtlCol="0" anchor="t"/>
          <a:lstStyle/>
          <a:p>
            <a:pPr marL="0" indent="0" algn="l">
              <a:lnSpc>
                <a:spcPts val="1950"/>
              </a:lnSpc>
              <a:buNone/>
            </a:pPr>
            <a:r>
              <a:rPr lang="en-US" sz="1550" b="1" dirty="0">
                <a:solidFill>
                  <a:srgbClr val="443728"/>
                </a:solidFill>
                <a:latin typeface="Sitka Heading Semibold" pitchFamily="2" charset="0"/>
                <a:ea typeface="Crimson Pro Bold" pitchFamily="34" charset="-122"/>
                <a:cs typeface="Crimson Pro Bold" pitchFamily="34" charset="-120"/>
              </a:rPr>
              <a:t>Claim Submission</a:t>
            </a:r>
            <a:endParaRPr lang="en-US" sz="1550" dirty="0"/>
          </a:p>
        </p:txBody>
      </p:sp>
      <p:sp>
        <p:nvSpPr>
          <p:cNvPr id="7" name="Text 4"/>
          <p:cNvSpPr/>
          <p:nvPr/>
        </p:nvSpPr>
        <p:spPr>
          <a:xfrm>
            <a:off x="1379815" y="1813917"/>
            <a:ext cx="12457509" cy="215503"/>
          </a:xfrm>
          <a:prstGeom prst="rect">
            <a:avLst/>
          </a:prstGeom>
          <a:noFill/>
          <a:ln/>
        </p:spPr>
        <p:txBody>
          <a:bodyPr wrap="none" lIns="0" tIns="0" rIns="0" bIns="0" rtlCol="0" anchor="t"/>
          <a:lstStyle/>
          <a:p>
            <a:pPr marL="0" indent="0" algn="l">
              <a:lnSpc>
                <a:spcPts val="1650"/>
              </a:lnSpc>
              <a:buNone/>
            </a:pPr>
            <a:r>
              <a:rPr lang="en-US" sz="1200" dirty="0">
                <a:solidFill>
                  <a:srgbClr val="443728"/>
                </a:solidFill>
                <a:latin typeface="Open Sans" pitchFamily="34" charset="0"/>
                <a:ea typeface="Open Sans" pitchFamily="34" charset="-122"/>
                <a:cs typeface="Open Sans" pitchFamily="34" charset="-120"/>
              </a:rPr>
              <a:t>Customer raises the claim via portal and submits proof documents, reason, and claim amount</a:t>
            </a:r>
            <a:endParaRPr lang="en-US" sz="1200" dirty="0"/>
          </a:p>
        </p:txBody>
      </p:sp>
      <p:sp>
        <p:nvSpPr>
          <p:cNvPr id="8" name="Shape 5"/>
          <p:cNvSpPr/>
          <p:nvPr/>
        </p:nvSpPr>
        <p:spPr>
          <a:xfrm>
            <a:off x="1189553" y="2641521"/>
            <a:ext cx="158591" cy="713780"/>
          </a:xfrm>
          <a:prstGeom prst="roundRect">
            <a:avLst>
              <a:gd name="adj" fmla="val 42011"/>
            </a:avLst>
          </a:prstGeom>
          <a:solidFill>
            <a:srgbClr val="EBE2E0"/>
          </a:solidFill>
          <a:ln w="7620">
            <a:solidFill>
              <a:srgbClr val="D1C8C6"/>
            </a:solidFill>
            <a:prstDash val="solid"/>
          </a:ln>
        </p:spPr>
      </p:sp>
      <p:sp>
        <p:nvSpPr>
          <p:cNvPr id="9" name="Shape 6"/>
          <p:cNvSpPr/>
          <p:nvPr/>
        </p:nvSpPr>
        <p:spPr>
          <a:xfrm>
            <a:off x="1030962" y="2537460"/>
            <a:ext cx="475893" cy="475893"/>
          </a:xfrm>
          <a:prstGeom prst="roundRect">
            <a:avLst>
              <a:gd name="adj" fmla="val 96072"/>
            </a:avLst>
          </a:prstGeom>
          <a:solidFill>
            <a:srgbClr val="EBE2E0"/>
          </a:solidFill>
          <a:ln w="7620">
            <a:solidFill>
              <a:srgbClr val="D1C8C6"/>
            </a:solidFill>
            <a:prstDash val="solid"/>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9906" y="2656523"/>
            <a:ext cx="237887" cy="237887"/>
          </a:xfrm>
          <a:prstGeom prst="rect">
            <a:avLst/>
          </a:prstGeom>
        </p:spPr>
      </p:pic>
      <p:sp>
        <p:nvSpPr>
          <p:cNvPr id="11" name="Text 7"/>
          <p:cNvSpPr/>
          <p:nvPr/>
        </p:nvSpPr>
        <p:spPr>
          <a:xfrm>
            <a:off x="1617702" y="2562225"/>
            <a:ext cx="1982867" cy="247769"/>
          </a:xfrm>
          <a:prstGeom prst="rect">
            <a:avLst/>
          </a:prstGeom>
          <a:noFill/>
          <a:ln/>
        </p:spPr>
        <p:txBody>
          <a:bodyPr wrap="none" lIns="0" tIns="0" rIns="0" bIns="0" rtlCol="0" anchor="t"/>
          <a:lstStyle/>
          <a:p>
            <a:pPr marL="0" indent="0" algn="l">
              <a:lnSpc>
                <a:spcPts val="1950"/>
              </a:lnSpc>
              <a:buNone/>
            </a:pPr>
            <a:r>
              <a:rPr lang="en-US" sz="1550" b="1" dirty="0">
                <a:solidFill>
                  <a:srgbClr val="443728"/>
                </a:solidFill>
                <a:latin typeface="Sitka Heading Semibold" pitchFamily="2" charset="0"/>
                <a:ea typeface="Crimson Pro Bold" pitchFamily="34" charset="-122"/>
                <a:cs typeface="Crimson Pro Bold" pitchFamily="34" charset="-120"/>
              </a:rPr>
              <a:t>Initial Review</a:t>
            </a:r>
            <a:endParaRPr lang="en-US" sz="1550" dirty="0"/>
          </a:p>
        </p:txBody>
      </p:sp>
      <p:sp>
        <p:nvSpPr>
          <p:cNvPr id="12" name="Text 8"/>
          <p:cNvSpPr/>
          <p:nvPr/>
        </p:nvSpPr>
        <p:spPr>
          <a:xfrm>
            <a:off x="1617702" y="2876550"/>
            <a:ext cx="12219623" cy="215503"/>
          </a:xfrm>
          <a:prstGeom prst="rect">
            <a:avLst/>
          </a:prstGeom>
          <a:noFill/>
          <a:ln/>
        </p:spPr>
        <p:txBody>
          <a:bodyPr wrap="none" lIns="0" tIns="0" rIns="0" bIns="0" rtlCol="0" anchor="t"/>
          <a:lstStyle/>
          <a:p>
            <a:pPr marL="0" indent="0" algn="l">
              <a:lnSpc>
                <a:spcPts val="1650"/>
              </a:lnSpc>
              <a:buNone/>
            </a:pPr>
            <a:r>
              <a:rPr lang="en-US" sz="1200" dirty="0">
                <a:solidFill>
                  <a:srgbClr val="443728"/>
                </a:solidFill>
                <a:latin typeface="Open Sans" pitchFamily="34" charset="0"/>
                <a:ea typeface="Open Sans" pitchFamily="34" charset="-122"/>
                <a:cs typeface="Open Sans" pitchFamily="34" charset="-120"/>
              </a:rPr>
              <a:t>Agent conducts a preliminary review and validates the submitted documentation</a:t>
            </a:r>
            <a:endParaRPr lang="en-US" sz="1200" dirty="0"/>
          </a:p>
        </p:txBody>
      </p:sp>
      <p:sp>
        <p:nvSpPr>
          <p:cNvPr id="13" name="Shape 9"/>
          <p:cNvSpPr/>
          <p:nvPr/>
        </p:nvSpPr>
        <p:spPr>
          <a:xfrm>
            <a:off x="1427559" y="3704153"/>
            <a:ext cx="158591" cy="713780"/>
          </a:xfrm>
          <a:prstGeom prst="roundRect">
            <a:avLst>
              <a:gd name="adj" fmla="val 42011"/>
            </a:avLst>
          </a:prstGeom>
          <a:solidFill>
            <a:srgbClr val="EBE2E0"/>
          </a:solidFill>
          <a:ln w="7620">
            <a:solidFill>
              <a:srgbClr val="D1C8C6"/>
            </a:solidFill>
            <a:prstDash val="solid"/>
          </a:ln>
        </p:spPr>
      </p:sp>
      <p:sp>
        <p:nvSpPr>
          <p:cNvPr id="14" name="Shape 10"/>
          <p:cNvSpPr/>
          <p:nvPr/>
        </p:nvSpPr>
        <p:spPr>
          <a:xfrm>
            <a:off x="1268968" y="3600093"/>
            <a:ext cx="475893" cy="475893"/>
          </a:xfrm>
          <a:prstGeom prst="roundRect">
            <a:avLst>
              <a:gd name="adj" fmla="val 96072"/>
            </a:avLst>
          </a:prstGeom>
          <a:solidFill>
            <a:srgbClr val="EBE2E0"/>
          </a:solidFill>
          <a:ln w="7620">
            <a:solidFill>
              <a:srgbClr val="D1C8C6"/>
            </a:solidFill>
            <a:prstDash val="solid"/>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87912" y="3719155"/>
            <a:ext cx="237887" cy="237887"/>
          </a:xfrm>
          <a:prstGeom prst="rect">
            <a:avLst/>
          </a:prstGeom>
        </p:spPr>
      </p:pic>
      <p:sp>
        <p:nvSpPr>
          <p:cNvPr id="16" name="Text 11"/>
          <p:cNvSpPr/>
          <p:nvPr/>
        </p:nvSpPr>
        <p:spPr>
          <a:xfrm>
            <a:off x="1855708" y="3624858"/>
            <a:ext cx="2228255" cy="247769"/>
          </a:xfrm>
          <a:prstGeom prst="rect">
            <a:avLst/>
          </a:prstGeom>
          <a:noFill/>
          <a:ln/>
        </p:spPr>
        <p:txBody>
          <a:bodyPr wrap="none" lIns="0" tIns="0" rIns="0" bIns="0" rtlCol="0" anchor="t"/>
          <a:lstStyle/>
          <a:p>
            <a:pPr marL="0" indent="0" algn="l">
              <a:lnSpc>
                <a:spcPts val="1950"/>
              </a:lnSpc>
              <a:buNone/>
            </a:pPr>
            <a:r>
              <a:rPr lang="en-US" sz="1550" b="1" dirty="0">
                <a:solidFill>
                  <a:srgbClr val="443728"/>
                </a:solidFill>
                <a:latin typeface="Sitka Heading Semibold" pitchFamily="2" charset="0"/>
                <a:ea typeface="Crimson Pro Bold" pitchFamily="34" charset="-122"/>
                <a:cs typeface="Crimson Pro Bold" pitchFamily="34" charset="-120"/>
              </a:rPr>
              <a:t>Claims Officer Verification</a:t>
            </a:r>
            <a:endParaRPr lang="en-US" sz="1550" dirty="0"/>
          </a:p>
        </p:txBody>
      </p:sp>
      <p:sp>
        <p:nvSpPr>
          <p:cNvPr id="17" name="Text 12"/>
          <p:cNvSpPr/>
          <p:nvPr/>
        </p:nvSpPr>
        <p:spPr>
          <a:xfrm>
            <a:off x="1855708" y="3939183"/>
            <a:ext cx="11981617" cy="215503"/>
          </a:xfrm>
          <a:prstGeom prst="rect">
            <a:avLst/>
          </a:prstGeom>
          <a:noFill/>
          <a:ln/>
        </p:spPr>
        <p:txBody>
          <a:bodyPr wrap="none" lIns="0" tIns="0" rIns="0" bIns="0" rtlCol="0" anchor="t"/>
          <a:lstStyle/>
          <a:p>
            <a:pPr marL="0" indent="0" algn="l">
              <a:lnSpc>
                <a:spcPts val="1650"/>
              </a:lnSpc>
              <a:buNone/>
            </a:pPr>
            <a:r>
              <a:rPr lang="en-US" sz="1200" dirty="0">
                <a:solidFill>
                  <a:srgbClr val="443728"/>
                </a:solidFill>
                <a:latin typeface="Open Sans" pitchFamily="34" charset="0"/>
                <a:ea typeface="Open Sans" pitchFamily="34" charset="-122"/>
                <a:cs typeface="Open Sans" pitchFamily="34" charset="-120"/>
              </a:rPr>
              <a:t>Claims Officer verifies claim data, reviews supporting documents, and validates eligibility</a:t>
            </a:r>
            <a:endParaRPr lang="en-US" sz="1200" dirty="0"/>
          </a:p>
        </p:txBody>
      </p:sp>
      <p:sp>
        <p:nvSpPr>
          <p:cNvPr id="18" name="Shape 13"/>
          <p:cNvSpPr/>
          <p:nvPr/>
        </p:nvSpPr>
        <p:spPr>
          <a:xfrm>
            <a:off x="1665446" y="4766786"/>
            <a:ext cx="158591" cy="713780"/>
          </a:xfrm>
          <a:prstGeom prst="roundRect">
            <a:avLst>
              <a:gd name="adj" fmla="val 42011"/>
            </a:avLst>
          </a:prstGeom>
          <a:solidFill>
            <a:srgbClr val="EBE2E0"/>
          </a:solidFill>
          <a:ln w="7620">
            <a:solidFill>
              <a:srgbClr val="D1C8C6"/>
            </a:solidFill>
            <a:prstDash val="solid"/>
          </a:ln>
        </p:spPr>
      </p:sp>
      <p:sp>
        <p:nvSpPr>
          <p:cNvPr id="19" name="Shape 14"/>
          <p:cNvSpPr/>
          <p:nvPr/>
        </p:nvSpPr>
        <p:spPr>
          <a:xfrm>
            <a:off x="1506855" y="4662726"/>
            <a:ext cx="475893" cy="475893"/>
          </a:xfrm>
          <a:prstGeom prst="roundRect">
            <a:avLst>
              <a:gd name="adj" fmla="val 96072"/>
            </a:avLst>
          </a:prstGeom>
          <a:solidFill>
            <a:srgbClr val="EBE2E0"/>
          </a:solidFill>
          <a:ln w="7620">
            <a:solidFill>
              <a:srgbClr val="D1C8C6"/>
            </a:solidFill>
            <a:prstDash val="solid"/>
          </a:ln>
        </p:spPr>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25798" y="4781788"/>
            <a:ext cx="237887" cy="237887"/>
          </a:xfrm>
          <a:prstGeom prst="rect">
            <a:avLst/>
          </a:prstGeom>
        </p:spPr>
      </p:pic>
      <p:sp>
        <p:nvSpPr>
          <p:cNvPr id="21" name="Text 15"/>
          <p:cNvSpPr/>
          <p:nvPr/>
        </p:nvSpPr>
        <p:spPr>
          <a:xfrm>
            <a:off x="2093595" y="4687491"/>
            <a:ext cx="1982867" cy="247769"/>
          </a:xfrm>
          <a:prstGeom prst="rect">
            <a:avLst/>
          </a:prstGeom>
          <a:noFill/>
          <a:ln/>
        </p:spPr>
        <p:txBody>
          <a:bodyPr wrap="none" lIns="0" tIns="0" rIns="0" bIns="0" rtlCol="0" anchor="t"/>
          <a:lstStyle/>
          <a:p>
            <a:pPr marL="0" indent="0" algn="l">
              <a:lnSpc>
                <a:spcPts val="1950"/>
              </a:lnSpc>
              <a:buNone/>
            </a:pPr>
            <a:r>
              <a:rPr lang="en-US" sz="1550" b="1" dirty="0">
                <a:solidFill>
                  <a:srgbClr val="443728"/>
                </a:solidFill>
                <a:latin typeface="Sitka Heading Semibold" pitchFamily="2" charset="0"/>
                <a:ea typeface="Crimson Pro Bold" pitchFamily="34" charset="-122"/>
                <a:cs typeface="Crimson Pro Bold" pitchFamily="34" charset="-120"/>
              </a:rPr>
              <a:t>Approval Decision</a:t>
            </a:r>
            <a:endParaRPr lang="en-US" sz="1550" dirty="0"/>
          </a:p>
        </p:txBody>
      </p:sp>
      <p:sp>
        <p:nvSpPr>
          <p:cNvPr id="22" name="Text 16"/>
          <p:cNvSpPr/>
          <p:nvPr/>
        </p:nvSpPr>
        <p:spPr>
          <a:xfrm>
            <a:off x="2093595" y="5001816"/>
            <a:ext cx="11743730" cy="215503"/>
          </a:xfrm>
          <a:prstGeom prst="rect">
            <a:avLst/>
          </a:prstGeom>
          <a:noFill/>
          <a:ln/>
        </p:spPr>
        <p:txBody>
          <a:bodyPr wrap="none" lIns="0" tIns="0" rIns="0" bIns="0" rtlCol="0" anchor="t"/>
          <a:lstStyle/>
          <a:p>
            <a:pPr marL="0" indent="0" algn="l">
              <a:lnSpc>
                <a:spcPts val="1650"/>
              </a:lnSpc>
              <a:buNone/>
            </a:pPr>
            <a:r>
              <a:rPr lang="en-US" sz="1200" dirty="0">
                <a:solidFill>
                  <a:srgbClr val="443728"/>
                </a:solidFill>
                <a:latin typeface="Open Sans" pitchFamily="34" charset="0"/>
                <a:ea typeface="Open Sans" pitchFamily="34" charset="-122"/>
                <a:cs typeface="Open Sans" pitchFamily="34" charset="-120"/>
              </a:rPr>
              <a:t>Claims Officer approves or rejects the claim based on verification results</a:t>
            </a:r>
            <a:endParaRPr lang="en-US" sz="1200" dirty="0"/>
          </a:p>
        </p:txBody>
      </p:sp>
      <p:sp>
        <p:nvSpPr>
          <p:cNvPr id="23" name="Shape 17"/>
          <p:cNvSpPr/>
          <p:nvPr/>
        </p:nvSpPr>
        <p:spPr>
          <a:xfrm>
            <a:off x="1427559" y="5829419"/>
            <a:ext cx="158591" cy="713780"/>
          </a:xfrm>
          <a:prstGeom prst="roundRect">
            <a:avLst>
              <a:gd name="adj" fmla="val 42011"/>
            </a:avLst>
          </a:prstGeom>
          <a:solidFill>
            <a:srgbClr val="EBE2E0"/>
          </a:solidFill>
          <a:ln w="7620">
            <a:solidFill>
              <a:srgbClr val="D1C8C6"/>
            </a:solidFill>
            <a:prstDash val="solid"/>
          </a:ln>
        </p:spPr>
      </p:sp>
      <p:sp>
        <p:nvSpPr>
          <p:cNvPr id="24" name="Shape 18"/>
          <p:cNvSpPr/>
          <p:nvPr/>
        </p:nvSpPr>
        <p:spPr>
          <a:xfrm>
            <a:off x="1268968" y="5725358"/>
            <a:ext cx="475893" cy="475893"/>
          </a:xfrm>
          <a:prstGeom prst="roundRect">
            <a:avLst>
              <a:gd name="adj" fmla="val 96072"/>
            </a:avLst>
          </a:prstGeom>
          <a:solidFill>
            <a:srgbClr val="EBE2E0"/>
          </a:solidFill>
          <a:ln w="7620">
            <a:solidFill>
              <a:srgbClr val="D1C8C6"/>
            </a:solidFill>
            <a:prstDash val="solid"/>
          </a:ln>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87912" y="5844421"/>
            <a:ext cx="237887" cy="237887"/>
          </a:xfrm>
          <a:prstGeom prst="rect">
            <a:avLst/>
          </a:prstGeom>
        </p:spPr>
      </p:pic>
      <p:sp>
        <p:nvSpPr>
          <p:cNvPr id="26" name="Text 19"/>
          <p:cNvSpPr/>
          <p:nvPr/>
        </p:nvSpPr>
        <p:spPr>
          <a:xfrm>
            <a:off x="1855708" y="5750123"/>
            <a:ext cx="1982867" cy="247769"/>
          </a:xfrm>
          <a:prstGeom prst="rect">
            <a:avLst/>
          </a:prstGeom>
          <a:noFill/>
          <a:ln/>
        </p:spPr>
        <p:txBody>
          <a:bodyPr wrap="none" lIns="0" tIns="0" rIns="0" bIns="0" rtlCol="0" anchor="t"/>
          <a:lstStyle/>
          <a:p>
            <a:pPr marL="0" indent="0" algn="l">
              <a:lnSpc>
                <a:spcPts val="1950"/>
              </a:lnSpc>
              <a:buNone/>
            </a:pPr>
            <a:r>
              <a:rPr lang="en-US" sz="1550" b="1" dirty="0">
                <a:solidFill>
                  <a:srgbClr val="443728"/>
                </a:solidFill>
                <a:latin typeface="Sitka Heading Semibold" pitchFamily="2" charset="0"/>
                <a:ea typeface="Crimson Pro Bold" pitchFamily="34" charset="-122"/>
                <a:cs typeface="Crimson Pro Bold" pitchFamily="34" charset="-120"/>
              </a:rPr>
              <a:t>Customer Notification</a:t>
            </a:r>
            <a:endParaRPr lang="en-US" sz="1550" dirty="0"/>
          </a:p>
        </p:txBody>
      </p:sp>
      <p:sp>
        <p:nvSpPr>
          <p:cNvPr id="27" name="Text 20"/>
          <p:cNvSpPr/>
          <p:nvPr/>
        </p:nvSpPr>
        <p:spPr>
          <a:xfrm>
            <a:off x="1855708" y="6064448"/>
            <a:ext cx="11981617" cy="215503"/>
          </a:xfrm>
          <a:prstGeom prst="rect">
            <a:avLst/>
          </a:prstGeom>
          <a:noFill/>
          <a:ln/>
        </p:spPr>
        <p:txBody>
          <a:bodyPr wrap="none" lIns="0" tIns="0" rIns="0" bIns="0" rtlCol="0" anchor="t"/>
          <a:lstStyle/>
          <a:p>
            <a:pPr marL="0" indent="0" algn="l">
              <a:lnSpc>
                <a:spcPts val="1650"/>
              </a:lnSpc>
              <a:buNone/>
            </a:pPr>
            <a:r>
              <a:rPr lang="en-US" sz="1200" dirty="0">
                <a:solidFill>
                  <a:srgbClr val="443728"/>
                </a:solidFill>
                <a:latin typeface="Open Sans" pitchFamily="34" charset="0"/>
                <a:ea typeface="Open Sans" pitchFamily="34" charset="-122"/>
                <a:cs typeface="Open Sans" pitchFamily="34" charset="-120"/>
              </a:rPr>
              <a:t>Customer receives notification with full claim status and decision details</a:t>
            </a:r>
            <a:endParaRPr lang="en-US" sz="1200" dirty="0"/>
          </a:p>
        </p:txBody>
      </p:sp>
      <p:sp>
        <p:nvSpPr>
          <p:cNvPr id="28" name="Shape 21"/>
          <p:cNvSpPr/>
          <p:nvPr/>
        </p:nvSpPr>
        <p:spPr>
          <a:xfrm>
            <a:off x="1189553" y="6892052"/>
            <a:ext cx="158591" cy="713780"/>
          </a:xfrm>
          <a:prstGeom prst="roundRect">
            <a:avLst>
              <a:gd name="adj" fmla="val 42011"/>
            </a:avLst>
          </a:prstGeom>
          <a:solidFill>
            <a:srgbClr val="EBE2E0"/>
          </a:solidFill>
          <a:ln w="7620">
            <a:solidFill>
              <a:srgbClr val="D1C8C6"/>
            </a:solidFill>
            <a:prstDash val="solid"/>
          </a:ln>
        </p:spPr>
      </p:sp>
      <p:sp>
        <p:nvSpPr>
          <p:cNvPr id="29" name="Shape 22"/>
          <p:cNvSpPr/>
          <p:nvPr/>
        </p:nvSpPr>
        <p:spPr>
          <a:xfrm>
            <a:off x="1030962" y="6787991"/>
            <a:ext cx="475893" cy="475893"/>
          </a:xfrm>
          <a:prstGeom prst="roundRect">
            <a:avLst>
              <a:gd name="adj" fmla="val 96072"/>
            </a:avLst>
          </a:prstGeom>
          <a:solidFill>
            <a:srgbClr val="EBE2E0"/>
          </a:solidFill>
          <a:ln w="7620">
            <a:solidFill>
              <a:srgbClr val="D1C8C6"/>
            </a:solidFill>
            <a:prstDash val="solid"/>
          </a:ln>
        </p:spPr>
      </p:sp>
      <p:pic>
        <p:nvPicPr>
          <p:cNvPr id="30"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49906" y="6907054"/>
            <a:ext cx="237887" cy="237887"/>
          </a:xfrm>
          <a:prstGeom prst="rect">
            <a:avLst/>
          </a:prstGeom>
        </p:spPr>
      </p:pic>
      <p:sp>
        <p:nvSpPr>
          <p:cNvPr id="31" name="Text 23"/>
          <p:cNvSpPr/>
          <p:nvPr/>
        </p:nvSpPr>
        <p:spPr>
          <a:xfrm>
            <a:off x="1617702" y="6812756"/>
            <a:ext cx="1982867" cy="247769"/>
          </a:xfrm>
          <a:prstGeom prst="rect">
            <a:avLst/>
          </a:prstGeom>
          <a:noFill/>
          <a:ln/>
        </p:spPr>
        <p:txBody>
          <a:bodyPr wrap="none" lIns="0" tIns="0" rIns="0" bIns="0" rtlCol="0" anchor="t"/>
          <a:lstStyle/>
          <a:p>
            <a:pPr marL="0" indent="0" algn="l">
              <a:lnSpc>
                <a:spcPts val="1950"/>
              </a:lnSpc>
              <a:buNone/>
            </a:pPr>
            <a:r>
              <a:rPr lang="en-US" sz="1550" b="1" dirty="0">
                <a:solidFill>
                  <a:srgbClr val="443728"/>
                </a:solidFill>
                <a:latin typeface="Sitka Heading Semibold" pitchFamily="2" charset="0"/>
                <a:ea typeface="Crimson Pro Bold" pitchFamily="34" charset="-122"/>
                <a:cs typeface="Crimson Pro Bold" pitchFamily="34" charset="-120"/>
              </a:rPr>
              <a:t>Claim History</a:t>
            </a:r>
            <a:endParaRPr lang="en-US" sz="1550" dirty="0"/>
          </a:p>
        </p:txBody>
      </p:sp>
      <p:sp>
        <p:nvSpPr>
          <p:cNvPr id="32" name="Text 24"/>
          <p:cNvSpPr/>
          <p:nvPr/>
        </p:nvSpPr>
        <p:spPr>
          <a:xfrm>
            <a:off x="1617702" y="7127081"/>
            <a:ext cx="12219623" cy="215503"/>
          </a:xfrm>
          <a:prstGeom prst="rect">
            <a:avLst/>
          </a:prstGeom>
          <a:noFill/>
          <a:ln/>
        </p:spPr>
        <p:txBody>
          <a:bodyPr wrap="none" lIns="0" tIns="0" rIns="0" bIns="0" rtlCol="0" anchor="t"/>
          <a:lstStyle/>
          <a:p>
            <a:pPr marL="0" indent="0" algn="l">
              <a:lnSpc>
                <a:spcPts val="1650"/>
              </a:lnSpc>
              <a:buNone/>
            </a:pPr>
            <a:r>
              <a:rPr lang="en-US" sz="1200" dirty="0">
                <a:solidFill>
                  <a:srgbClr val="443728"/>
                </a:solidFill>
                <a:latin typeface="Open Sans" pitchFamily="34" charset="0"/>
                <a:ea typeface="Open Sans" pitchFamily="34" charset="-122"/>
                <a:cs typeface="Open Sans" pitchFamily="34" charset="-120"/>
              </a:rPr>
              <a:t>Customer can view the entire claim flow and history in their portal — they see the full end-to-end process and records</a:t>
            </a:r>
            <a:endParaRPr lang="en-US" sz="1200" dirty="0"/>
          </a:p>
        </p:txBody>
      </p:sp>
      <p:pic>
        <p:nvPicPr>
          <p:cNvPr id="33" name="Picture 32">
            <a:extLst>
              <a:ext uri="{FF2B5EF4-FFF2-40B4-BE49-F238E27FC236}">
                <a16:creationId xmlns:a16="http://schemas.microsoft.com/office/drawing/2014/main" id="{38AF20D3-761A-D03D-196A-0887DD150879}"/>
              </a:ext>
            </a:extLst>
          </p:cNvPr>
          <p:cNvPicPr>
            <a:picLocks noChangeAspect="1"/>
          </p:cNvPicPr>
          <p:nvPr/>
        </p:nvPicPr>
        <p:blipFill>
          <a:blip r:embed="rId15"/>
          <a:stretch>
            <a:fillRect/>
          </a:stretch>
        </p:blipFill>
        <p:spPr>
          <a:xfrm>
            <a:off x="12420493" y="7635794"/>
            <a:ext cx="2209907" cy="5811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012633"/>
            <a:ext cx="6147673" cy="708779"/>
          </a:xfrm>
          <a:prstGeom prst="rect">
            <a:avLst/>
          </a:prstGeom>
          <a:noFill/>
          <a:ln/>
        </p:spPr>
        <p:txBody>
          <a:bodyPr wrap="none" lIns="0" tIns="0" rIns="0" bIns="0" rtlCol="0" anchor="t"/>
          <a:lstStyle/>
          <a:p>
            <a:pPr marL="0" indent="0" algn="l">
              <a:lnSpc>
                <a:spcPts val="5550"/>
              </a:lnSpc>
              <a:buNone/>
            </a:pPr>
            <a:r>
              <a:rPr lang="en-US" sz="4450" b="1" dirty="0">
                <a:solidFill>
                  <a:srgbClr val="443728"/>
                </a:solidFill>
                <a:latin typeface="Sitka Heading Semibold" pitchFamily="2" charset="0"/>
                <a:ea typeface="Crimson Pro Bold" pitchFamily="34" charset="-122"/>
                <a:cs typeface="Crimson Pro Bold" pitchFamily="34" charset="-120"/>
              </a:rPr>
              <a:t>Claims Processing Details</a:t>
            </a:r>
            <a:endParaRPr lang="en-US" sz="4450" dirty="0">
              <a:latin typeface="Sitka Heading Semibold" pitchFamily="2" charset="0"/>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175040"/>
            <a:ext cx="453628" cy="453628"/>
          </a:xfrm>
          <a:prstGeom prst="rect">
            <a:avLst/>
          </a:prstGeom>
        </p:spPr>
      </p:pic>
      <p:sp>
        <p:nvSpPr>
          <p:cNvPr id="4" name="Text 1"/>
          <p:cNvSpPr/>
          <p:nvPr/>
        </p:nvSpPr>
        <p:spPr>
          <a:xfrm>
            <a:off x="1530906" y="325290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Business Rules Engine</a:t>
            </a:r>
            <a:endParaRPr lang="en-US" sz="2200" dirty="0"/>
          </a:p>
        </p:txBody>
      </p:sp>
      <p:sp>
        <p:nvSpPr>
          <p:cNvPr id="5" name="Text 2"/>
          <p:cNvSpPr/>
          <p:nvPr/>
        </p:nvSpPr>
        <p:spPr>
          <a:xfrm>
            <a:off x="1530906" y="3743325"/>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Applies policy terms automatically to validate Customer eligibility and coverage</a:t>
            </a:r>
            <a:endParaRPr lang="en-US" sz="17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56884" y="3175040"/>
            <a:ext cx="453628" cy="453628"/>
          </a:xfrm>
          <a:prstGeom prst="rect">
            <a:avLst/>
          </a:prstGeom>
        </p:spPr>
      </p:pic>
      <p:sp>
        <p:nvSpPr>
          <p:cNvPr id="7" name="Text 3"/>
          <p:cNvSpPr/>
          <p:nvPr/>
        </p:nvSpPr>
        <p:spPr>
          <a:xfrm>
            <a:off x="8194000" y="325290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Exception Handling</a:t>
            </a:r>
            <a:endParaRPr lang="en-US" sz="2200" dirty="0"/>
          </a:p>
        </p:txBody>
      </p:sp>
      <p:sp>
        <p:nvSpPr>
          <p:cNvPr id="8" name="Text 4"/>
          <p:cNvSpPr/>
          <p:nvPr/>
        </p:nvSpPr>
        <p:spPr>
          <a:xfrm>
            <a:off x="8194000" y="3743325"/>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Routes incomplete or suspicious claims to manual review queues</a:t>
            </a:r>
            <a:endParaRPr lang="en-US" sz="17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4922758"/>
            <a:ext cx="453628" cy="453628"/>
          </a:xfrm>
          <a:prstGeom prst="rect">
            <a:avLst/>
          </a:prstGeom>
        </p:spPr>
      </p:pic>
      <p:sp>
        <p:nvSpPr>
          <p:cNvPr id="10" name="Text 5"/>
          <p:cNvSpPr/>
          <p:nvPr/>
        </p:nvSpPr>
        <p:spPr>
          <a:xfrm>
            <a:off x="1530906" y="500062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Real-Time Analytics</a:t>
            </a:r>
            <a:endParaRPr lang="en-US" sz="2200" dirty="0"/>
          </a:p>
        </p:txBody>
      </p:sp>
      <p:sp>
        <p:nvSpPr>
          <p:cNvPr id="11" name="Text 6"/>
          <p:cNvSpPr/>
          <p:nvPr/>
        </p:nvSpPr>
        <p:spPr>
          <a:xfrm>
            <a:off x="1530906" y="5491043"/>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Dashboard provides processing metrics and performance tracking</a:t>
            </a:r>
            <a:endParaRPr lang="en-US" sz="175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56884" y="4922758"/>
            <a:ext cx="453628" cy="453628"/>
          </a:xfrm>
          <a:prstGeom prst="rect">
            <a:avLst/>
          </a:prstGeom>
        </p:spPr>
      </p:pic>
      <p:sp>
        <p:nvSpPr>
          <p:cNvPr id="13" name="Text 7"/>
          <p:cNvSpPr/>
          <p:nvPr/>
        </p:nvSpPr>
        <p:spPr>
          <a:xfrm>
            <a:off x="8194000" y="500062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Invoice Generation</a:t>
            </a:r>
            <a:endParaRPr lang="en-US" sz="2200" dirty="0"/>
          </a:p>
        </p:txBody>
      </p:sp>
      <p:sp>
        <p:nvSpPr>
          <p:cNvPr id="14" name="Text 8"/>
          <p:cNvSpPr/>
          <p:nvPr/>
        </p:nvSpPr>
        <p:spPr>
          <a:xfrm>
            <a:off x="8194000" y="5491043"/>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System generates invoices and payment documents for approved claims with detailed breakdowns</a:t>
            </a:r>
            <a:endParaRPr lang="en-US" sz="1750" dirty="0"/>
          </a:p>
        </p:txBody>
      </p:sp>
      <p:pic>
        <p:nvPicPr>
          <p:cNvPr id="15" name="Picture 14">
            <a:extLst>
              <a:ext uri="{FF2B5EF4-FFF2-40B4-BE49-F238E27FC236}">
                <a16:creationId xmlns:a16="http://schemas.microsoft.com/office/drawing/2014/main" id="{6CD19414-4EB2-F605-E6E4-271E217E0F0D}"/>
              </a:ext>
            </a:extLst>
          </p:cNvPr>
          <p:cNvPicPr>
            <a:picLocks noChangeAspect="1"/>
          </p:cNvPicPr>
          <p:nvPr/>
        </p:nvPicPr>
        <p:blipFill>
          <a:blip r:embed="rId11"/>
          <a:stretch>
            <a:fillRect/>
          </a:stretch>
        </p:blipFill>
        <p:spPr>
          <a:xfrm>
            <a:off x="12420493" y="7635794"/>
            <a:ext cx="2209907" cy="5811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646390"/>
            <a:ext cx="6307098" cy="708779"/>
          </a:xfrm>
          <a:prstGeom prst="rect">
            <a:avLst/>
          </a:prstGeom>
          <a:noFill/>
          <a:ln/>
        </p:spPr>
        <p:txBody>
          <a:bodyPr wrap="none" lIns="0" tIns="0" rIns="0" bIns="0" rtlCol="0" anchor="t"/>
          <a:lstStyle/>
          <a:p>
            <a:pPr marL="0" indent="0" algn="l">
              <a:lnSpc>
                <a:spcPts val="5550"/>
              </a:lnSpc>
              <a:buNone/>
            </a:pPr>
            <a:r>
              <a:rPr lang="en-US" sz="4450" b="1" dirty="0">
                <a:solidFill>
                  <a:srgbClr val="443728"/>
                </a:solidFill>
                <a:latin typeface="Sitka Heading Semibold" pitchFamily="2" charset="0"/>
                <a:ea typeface="Crimson Pro Bold" pitchFamily="34" charset="-122"/>
                <a:cs typeface="Crimson Pro Bold" pitchFamily="34" charset="-120"/>
              </a:rPr>
              <a:t>Agent Dashboard Features</a:t>
            </a:r>
            <a:endParaRPr lang="en-US" sz="4450" dirty="0">
              <a:latin typeface="Sitka Heading Semibold" pitchFamily="2" charset="0"/>
            </a:endParaRPr>
          </a:p>
        </p:txBody>
      </p:sp>
      <p:sp>
        <p:nvSpPr>
          <p:cNvPr id="3" name="Shape 1"/>
          <p:cNvSpPr/>
          <p:nvPr/>
        </p:nvSpPr>
        <p:spPr>
          <a:xfrm>
            <a:off x="793790" y="1808798"/>
            <a:ext cx="4196358" cy="2955250"/>
          </a:xfrm>
          <a:prstGeom prst="roundRect">
            <a:avLst>
              <a:gd name="adj" fmla="val 3224"/>
            </a:avLst>
          </a:prstGeom>
          <a:solidFill>
            <a:srgbClr val="EBE2E0"/>
          </a:solidFill>
          <a:ln w="7620">
            <a:solidFill>
              <a:srgbClr val="D1C8C6"/>
            </a:solidFill>
            <a:prstDash val="solid"/>
          </a:ln>
        </p:spPr>
      </p:sp>
      <p:sp>
        <p:nvSpPr>
          <p:cNvPr id="4" name="Shape 2"/>
          <p:cNvSpPr/>
          <p:nvPr/>
        </p:nvSpPr>
        <p:spPr>
          <a:xfrm>
            <a:off x="1028224" y="2043232"/>
            <a:ext cx="680442" cy="680442"/>
          </a:xfrm>
          <a:prstGeom prst="roundRect">
            <a:avLst>
              <a:gd name="adj" fmla="val 13436980"/>
            </a:avLst>
          </a:prstGeom>
          <a:solidFill>
            <a:srgbClr val="835E54"/>
          </a:solidFill>
          <a:ln/>
        </p:spPr>
      </p:sp>
      <p:sp>
        <p:nvSpPr>
          <p:cNvPr id="5" name="Text 3"/>
          <p:cNvSpPr/>
          <p:nvPr/>
        </p:nvSpPr>
        <p:spPr>
          <a:xfrm>
            <a:off x="1028224" y="295048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Activity Overview</a:t>
            </a:r>
            <a:endParaRPr lang="en-US" sz="2200" dirty="0"/>
          </a:p>
        </p:txBody>
      </p:sp>
      <p:sp>
        <p:nvSpPr>
          <p:cNvPr id="6" name="Text 4"/>
          <p:cNvSpPr/>
          <p:nvPr/>
        </p:nvSpPr>
        <p:spPr>
          <a:xfrm>
            <a:off x="1028224" y="3440906"/>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Snapshot of active policies and pending claims with priority indicators</a:t>
            </a:r>
            <a:endParaRPr lang="en-US" sz="1750" dirty="0"/>
          </a:p>
        </p:txBody>
      </p:sp>
      <p:sp>
        <p:nvSpPr>
          <p:cNvPr id="7" name="Shape 5"/>
          <p:cNvSpPr/>
          <p:nvPr/>
        </p:nvSpPr>
        <p:spPr>
          <a:xfrm>
            <a:off x="5216962" y="1808798"/>
            <a:ext cx="4196358" cy="2955250"/>
          </a:xfrm>
          <a:prstGeom prst="roundRect">
            <a:avLst>
              <a:gd name="adj" fmla="val 3224"/>
            </a:avLst>
          </a:prstGeom>
          <a:solidFill>
            <a:srgbClr val="EBE2E0"/>
          </a:solidFill>
          <a:ln w="7620">
            <a:solidFill>
              <a:srgbClr val="D1C8C6"/>
            </a:solidFill>
            <a:prstDash val="solid"/>
          </a:ln>
        </p:spPr>
      </p:sp>
      <p:sp>
        <p:nvSpPr>
          <p:cNvPr id="8" name="Shape 6"/>
          <p:cNvSpPr/>
          <p:nvPr/>
        </p:nvSpPr>
        <p:spPr>
          <a:xfrm>
            <a:off x="5451396" y="2043232"/>
            <a:ext cx="680442" cy="680442"/>
          </a:xfrm>
          <a:prstGeom prst="roundRect">
            <a:avLst>
              <a:gd name="adj" fmla="val 13436980"/>
            </a:avLst>
          </a:prstGeom>
          <a:solidFill>
            <a:srgbClr val="835E54"/>
          </a:solidFill>
          <a:ln/>
        </p:spPr>
      </p:sp>
      <p:sp>
        <p:nvSpPr>
          <p:cNvPr id="9" name="Text 7"/>
          <p:cNvSpPr/>
          <p:nvPr/>
        </p:nvSpPr>
        <p:spPr>
          <a:xfrm>
            <a:off x="5451396" y="295048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Quick Actions</a:t>
            </a:r>
            <a:endParaRPr lang="en-US" sz="2200" dirty="0"/>
          </a:p>
        </p:txBody>
      </p:sp>
      <p:sp>
        <p:nvSpPr>
          <p:cNvPr id="10" name="Text 8"/>
          <p:cNvSpPr/>
          <p:nvPr/>
        </p:nvSpPr>
        <p:spPr>
          <a:xfrm>
            <a:off x="5451396" y="3440906"/>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One-click access to claim submission and immediate status updates</a:t>
            </a:r>
            <a:endParaRPr lang="en-US" sz="1750" dirty="0"/>
          </a:p>
        </p:txBody>
      </p:sp>
      <p:sp>
        <p:nvSpPr>
          <p:cNvPr id="11" name="Shape 9"/>
          <p:cNvSpPr/>
          <p:nvPr/>
        </p:nvSpPr>
        <p:spPr>
          <a:xfrm>
            <a:off x="9640133" y="1808798"/>
            <a:ext cx="4196358" cy="2955250"/>
          </a:xfrm>
          <a:prstGeom prst="roundRect">
            <a:avLst>
              <a:gd name="adj" fmla="val 3224"/>
            </a:avLst>
          </a:prstGeom>
          <a:solidFill>
            <a:srgbClr val="EBE2E0"/>
          </a:solidFill>
          <a:ln w="7620">
            <a:solidFill>
              <a:srgbClr val="D1C8C6"/>
            </a:solidFill>
            <a:prstDash val="solid"/>
          </a:ln>
        </p:spPr>
      </p:sp>
      <p:sp>
        <p:nvSpPr>
          <p:cNvPr id="12" name="Shape 10"/>
          <p:cNvSpPr/>
          <p:nvPr/>
        </p:nvSpPr>
        <p:spPr>
          <a:xfrm>
            <a:off x="9874568" y="2043232"/>
            <a:ext cx="680442" cy="680442"/>
          </a:xfrm>
          <a:prstGeom prst="roundRect">
            <a:avLst>
              <a:gd name="adj" fmla="val 13436980"/>
            </a:avLst>
          </a:prstGeom>
          <a:solidFill>
            <a:srgbClr val="835E54"/>
          </a:solidFill>
          <a:ln/>
        </p:spPr>
      </p:sp>
      <p:sp>
        <p:nvSpPr>
          <p:cNvPr id="13" name="Text 11"/>
          <p:cNvSpPr/>
          <p:nvPr/>
        </p:nvSpPr>
        <p:spPr>
          <a:xfrm>
            <a:off x="9874568" y="295048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Smart Alerts</a:t>
            </a:r>
            <a:endParaRPr lang="en-US" sz="2200" dirty="0"/>
          </a:p>
        </p:txBody>
      </p:sp>
      <p:sp>
        <p:nvSpPr>
          <p:cNvPr id="14" name="Text 12"/>
          <p:cNvSpPr/>
          <p:nvPr/>
        </p:nvSpPr>
        <p:spPr>
          <a:xfrm>
            <a:off x="9874568" y="3440906"/>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Notifications for pending approvals, escalations, and time-sensitive actions</a:t>
            </a:r>
            <a:endParaRPr lang="en-US" sz="1750" dirty="0"/>
          </a:p>
        </p:txBody>
      </p:sp>
      <p:sp>
        <p:nvSpPr>
          <p:cNvPr id="15" name="Shape 13"/>
          <p:cNvSpPr/>
          <p:nvPr/>
        </p:nvSpPr>
        <p:spPr>
          <a:xfrm>
            <a:off x="793790" y="4990862"/>
            <a:ext cx="6407944" cy="2592348"/>
          </a:xfrm>
          <a:prstGeom prst="roundRect">
            <a:avLst>
              <a:gd name="adj" fmla="val 3675"/>
            </a:avLst>
          </a:prstGeom>
          <a:solidFill>
            <a:srgbClr val="EBE2E0"/>
          </a:solidFill>
          <a:ln w="7620">
            <a:solidFill>
              <a:srgbClr val="D1C8C6"/>
            </a:solidFill>
            <a:prstDash val="solid"/>
          </a:ln>
        </p:spPr>
      </p:sp>
      <p:sp>
        <p:nvSpPr>
          <p:cNvPr id="16" name="Shape 14"/>
          <p:cNvSpPr/>
          <p:nvPr/>
        </p:nvSpPr>
        <p:spPr>
          <a:xfrm>
            <a:off x="1028224" y="5225296"/>
            <a:ext cx="680442" cy="680442"/>
          </a:xfrm>
          <a:prstGeom prst="roundRect">
            <a:avLst>
              <a:gd name="adj" fmla="val 13436980"/>
            </a:avLst>
          </a:prstGeom>
          <a:solidFill>
            <a:srgbClr val="835E54"/>
          </a:solidFill>
          <a:ln/>
        </p:spPr>
      </p:sp>
      <p:sp>
        <p:nvSpPr>
          <p:cNvPr id="17" name="Text 15"/>
          <p:cNvSpPr/>
          <p:nvPr/>
        </p:nvSpPr>
        <p:spPr>
          <a:xfrm>
            <a:off x="1028224" y="613255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Performance Analytics</a:t>
            </a:r>
            <a:endParaRPr lang="en-US" sz="2200" dirty="0"/>
          </a:p>
        </p:txBody>
      </p:sp>
      <p:sp>
        <p:nvSpPr>
          <p:cNvPr id="18" name="Text 16"/>
          <p:cNvSpPr/>
          <p:nvPr/>
        </p:nvSpPr>
        <p:spPr>
          <a:xfrm>
            <a:off x="1028224" y="6622971"/>
            <a:ext cx="5939076"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Metrics on claim volumes, processing times, and service quality scores</a:t>
            </a:r>
            <a:endParaRPr lang="en-US" sz="1750" dirty="0"/>
          </a:p>
        </p:txBody>
      </p:sp>
      <p:sp>
        <p:nvSpPr>
          <p:cNvPr id="19" name="Shape 17"/>
          <p:cNvSpPr/>
          <p:nvPr/>
        </p:nvSpPr>
        <p:spPr>
          <a:xfrm>
            <a:off x="7428548" y="4990862"/>
            <a:ext cx="6407944" cy="2592348"/>
          </a:xfrm>
          <a:prstGeom prst="roundRect">
            <a:avLst>
              <a:gd name="adj" fmla="val 3675"/>
            </a:avLst>
          </a:prstGeom>
          <a:solidFill>
            <a:srgbClr val="EBE2E0"/>
          </a:solidFill>
          <a:ln w="7620">
            <a:solidFill>
              <a:srgbClr val="D1C8C6"/>
            </a:solidFill>
            <a:prstDash val="solid"/>
          </a:ln>
        </p:spPr>
      </p:sp>
      <p:sp>
        <p:nvSpPr>
          <p:cNvPr id="20" name="Shape 18"/>
          <p:cNvSpPr/>
          <p:nvPr/>
        </p:nvSpPr>
        <p:spPr>
          <a:xfrm>
            <a:off x="7662982" y="5225296"/>
            <a:ext cx="680442" cy="680442"/>
          </a:xfrm>
          <a:prstGeom prst="roundRect">
            <a:avLst>
              <a:gd name="adj" fmla="val 13436980"/>
            </a:avLst>
          </a:prstGeom>
          <a:solidFill>
            <a:srgbClr val="835E54"/>
          </a:solidFill>
          <a:ln/>
        </p:spPr>
      </p:sp>
      <p:sp>
        <p:nvSpPr>
          <p:cNvPr id="21" name="Text 19"/>
          <p:cNvSpPr/>
          <p:nvPr/>
        </p:nvSpPr>
        <p:spPr>
          <a:xfrm>
            <a:off x="7662982" y="613255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Communication Tools</a:t>
            </a:r>
            <a:endParaRPr lang="en-US" sz="2200" dirty="0"/>
          </a:p>
        </p:txBody>
      </p:sp>
      <p:sp>
        <p:nvSpPr>
          <p:cNvPr id="22" name="Text 20"/>
          <p:cNvSpPr/>
          <p:nvPr/>
        </p:nvSpPr>
        <p:spPr>
          <a:xfrm>
            <a:off x="7662982" y="6622971"/>
            <a:ext cx="5939076"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Integrated messaging for seamless Customer interaction and updates</a:t>
            </a:r>
            <a:endParaRPr lang="en-US" sz="1750" dirty="0"/>
          </a:p>
        </p:txBody>
      </p:sp>
      <p:pic>
        <p:nvPicPr>
          <p:cNvPr id="23" name="Picture 22">
            <a:extLst>
              <a:ext uri="{FF2B5EF4-FFF2-40B4-BE49-F238E27FC236}">
                <a16:creationId xmlns:a16="http://schemas.microsoft.com/office/drawing/2014/main" id="{769DD2BA-FBB0-56D0-AAEB-1062932BC4C3}"/>
              </a:ext>
            </a:extLst>
          </p:cNvPr>
          <p:cNvPicPr>
            <a:picLocks noChangeAspect="1"/>
          </p:cNvPicPr>
          <p:nvPr/>
        </p:nvPicPr>
        <p:blipFill>
          <a:blip r:embed="rId3"/>
          <a:stretch>
            <a:fillRect/>
          </a:stretch>
        </p:blipFill>
        <p:spPr>
          <a:xfrm>
            <a:off x="12420493" y="7719299"/>
            <a:ext cx="2209907" cy="5103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60571"/>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443728"/>
                </a:solidFill>
                <a:latin typeface="Sitka Heading Semibold" pitchFamily="2" charset="0"/>
                <a:ea typeface="Crimson Pro Bold" pitchFamily="34" charset="-122"/>
                <a:cs typeface="Crimson Pro Bold" pitchFamily="34" charset="-120"/>
              </a:rPr>
              <a:t>Database Relationships</a:t>
            </a:r>
            <a:endParaRPr lang="en-US" sz="4450" dirty="0">
              <a:latin typeface="Sitka Heading Semibold" pitchFamily="2" charset="0"/>
            </a:endParaRPr>
          </a:p>
        </p:txBody>
      </p:sp>
      <p:sp>
        <p:nvSpPr>
          <p:cNvPr id="3" name="Text 1"/>
          <p:cNvSpPr/>
          <p:nvPr/>
        </p:nvSpPr>
        <p:spPr>
          <a:xfrm>
            <a:off x="1970603" y="1962269"/>
            <a:ext cx="2835235" cy="354330"/>
          </a:xfrm>
          <a:prstGeom prst="rect">
            <a:avLst/>
          </a:prstGeom>
          <a:noFill/>
          <a:ln/>
        </p:spPr>
        <p:txBody>
          <a:bodyPr wrap="none" lIns="0" tIns="0" rIns="0" bIns="0" rtlCol="0" anchor="t"/>
          <a:lstStyle/>
          <a:p>
            <a:pPr marL="0" indent="0" algn="r">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Policy</a:t>
            </a:r>
            <a:endParaRPr lang="en-US" sz="2200" dirty="0"/>
          </a:p>
        </p:txBody>
      </p:sp>
      <p:sp>
        <p:nvSpPr>
          <p:cNvPr id="4" name="Text 2"/>
          <p:cNvSpPr/>
          <p:nvPr/>
        </p:nvSpPr>
        <p:spPr>
          <a:xfrm>
            <a:off x="793790" y="2452688"/>
            <a:ext cx="4012049" cy="725805"/>
          </a:xfrm>
          <a:prstGeom prst="rect">
            <a:avLst/>
          </a:prstGeom>
          <a:noFill/>
          <a:ln/>
        </p:spPr>
        <p:txBody>
          <a:bodyPr wrap="square" lIns="0" tIns="0" rIns="0" bIns="0" rtlCol="0" anchor="t"/>
          <a:lstStyle/>
          <a:p>
            <a:pPr marL="0" indent="0" algn="r">
              <a:lnSpc>
                <a:spcPts val="2850"/>
              </a:lnSpc>
              <a:buNone/>
            </a:pPr>
            <a:r>
              <a:rPr lang="en-US" sz="1750" dirty="0">
                <a:solidFill>
                  <a:srgbClr val="443728"/>
                </a:solidFill>
                <a:latin typeface="Open Sans" pitchFamily="34" charset="0"/>
                <a:ea typeface="Open Sans" pitchFamily="34" charset="-122"/>
                <a:cs typeface="Open Sans" pitchFamily="34" charset="-120"/>
              </a:rPr>
              <a:t>Contains coverage terms, limits, and effective dates</a:t>
            </a:r>
            <a:endParaRPr lang="en-US" sz="1750" dirty="0"/>
          </a:p>
        </p:txBody>
      </p:sp>
      <p:pic>
        <p:nvPicPr>
          <p:cNvPr id="5" name="Image 0" descr="preencoded.png"/>
          <p:cNvPicPr>
            <a:picLocks noChangeAspect="1"/>
          </p:cNvPicPr>
          <p:nvPr/>
        </p:nvPicPr>
        <p:blipFill>
          <a:blip r:embed="rId3"/>
          <a:stretch>
            <a:fillRect/>
          </a:stretch>
        </p:blipFill>
        <p:spPr>
          <a:xfrm>
            <a:off x="5032653" y="1922978"/>
            <a:ext cx="4564975" cy="4564975"/>
          </a:xfrm>
          <a:prstGeom prst="rect">
            <a:avLst/>
          </a:prstGeom>
        </p:spPr>
      </p:pic>
      <p:sp>
        <p:nvSpPr>
          <p:cNvPr id="6" name="Text 3"/>
          <p:cNvSpPr/>
          <p:nvPr/>
        </p:nvSpPr>
        <p:spPr>
          <a:xfrm>
            <a:off x="9824442" y="196226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Claim</a:t>
            </a:r>
            <a:endParaRPr lang="en-US" sz="2200" dirty="0"/>
          </a:p>
        </p:txBody>
      </p:sp>
      <p:sp>
        <p:nvSpPr>
          <p:cNvPr id="7" name="Text 4"/>
          <p:cNvSpPr/>
          <p:nvPr/>
        </p:nvSpPr>
        <p:spPr>
          <a:xfrm>
            <a:off x="9824442" y="2452688"/>
            <a:ext cx="4012168"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Links to policy, Customer, and agent with status tracking</a:t>
            </a:r>
            <a:endParaRPr lang="en-US" sz="1750" dirty="0"/>
          </a:p>
        </p:txBody>
      </p:sp>
      <p:pic>
        <p:nvPicPr>
          <p:cNvPr id="8" name="Image 1" descr="preencoded.png"/>
          <p:cNvPicPr>
            <a:picLocks noChangeAspect="1"/>
          </p:cNvPicPr>
          <p:nvPr/>
        </p:nvPicPr>
        <p:blipFill>
          <a:blip r:embed="rId4"/>
          <a:stretch>
            <a:fillRect/>
          </a:stretch>
        </p:blipFill>
        <p:spPr>
          <a:xfrm>
            <a:off x="5032653" y="1922978"/>
            <a:ext cx="4564975" cy="4564975"/>
          </a:xfrm>
          <a:prstGeom prst="rect">
            <a:avLst/>
          </a:prstGeom>
        </p:spPr>
      </p:pic>
      <p:sp>
        <p:nvSpPr>
          <p:cNvPr id="9" name="Text 5"/>
          <p:cNvSpPr/>
          <p:nvPr/>
        </p:nvSpPr>
        <p:spPr>
          <a:xfrm>
            <a:off x="10051256" y="359723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Customer</a:t>
            </a:r>
            <a:endParaRPr lang="en-US" sz="2200" dirty="0"/>
          </a:p>
        </p:txBody>
      </p:sp>
      <p:sp>
        <p:nvSpPr>
          <p:cNvPr id="10" name="Text 6"/>
          <p:cNvSpPr/>
          <p:nvPr/>
        </p:nvSpPr>
        <p:spPr>
          <a:xfrm>
            <a:off x="10051256" y="4087654"/>
            <a:ext cx="3785354"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Customer profile with contact details and policy history</a:t>
            </a:r>
            <a:endParaRPr lang="en-US" sz="1750" dirty="0"/>
          </a:p>
        </p:txBody>
      </p:sp>
      <p:pic>
        <p:nvPicPr>
          <p:cNvPr id="11" name="Image 2" descr="preencoded.png"/>
          <p:cNvPicPr>
            <a:picLocks noChangeAspect="1"/>
          </p:cNvPicPr>
          <p:nvPr/>
        </p:nvPicPr>
        <p:blipFill>
          <a:blip r:embed="rId5"/>
          <a:stretch>
            <a:fillRect/>
          </a:stretch>
        </p:blipFill>
        <p:spPr>
          <a:xfrm>
            <a:off x="5032653" y="1922978"/>
            <a:ext cx="4564975" cy="4564975"/>
          </a:xfrm>
          <a:prstGeom prst="rect">
            <a:avLst/>
          </a:prstGeom>
        </p:spPr>
      </p:pic>
      <p:sp>
        <p:nvSpPr>
          <p:cNvPr id="12" name="Text 7"/>
          <p:cNvSpPr/>
          <p:nvPr/>
        </p:nvSpPr>
        <p:spPr>
          <a:xfrm>
            <a:off x="9824442" y="523232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Agent</a:t>
            </a:r>
            <a:endParaRPr lang="en-US" sz="2200" dirty="0"/>
          </a:p>
        </p:txBody>
      </p:sp>
      <p:sp>
        <p:nvSpPr>
          <p:cNvPr id="13" name="Text 8"/>
          <p:cNvSpPr/>
          <p:nvPr/>
        </p:nvSpPr>
        <p:spPr>
          <a:xfrm>
            <a:off x="9824442" y="5722739"/>
            <a:ext cx="4012168"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Assigned representative managing claims and policies</a:t>
            </a:r>
            <a:endParaRPr lang="en-US" sz="1750" dirty="0"/>
          </a:p>
        </p:txBody>
      </p:sp>
      <p:pic>
        <p:nvPicPr>
          <p:cNvPr id="14" name="Image 3" descr="preencoded.png"/>
          <p:cNvPicPr>
            <a:picLocks noChangeAspect="1"/>
          </p:cNvPicPr>
          <p:nvPr/>
        </p:nvPicPr>
        <p:blipFill>
          <a:blip r:embed="rId6"/>
          <a:stretch>
            <a:fillRect/>
          </a:stretch>
        </p:blipFill>
        <p:spPr>
          <a:xfrm>
            <a:off x="5032653" y="1922978"/>
            <a:ext cx="4564975" cy="4564975"/>
          </a:xfrm>
          <a:prstGeom prst="rect">
            <a:avLst/>
          </a:prstGeom>
        </p:spPr>
      </p:pic>
      <p:sp>
        <p:nvSpPr>
          <p:cNvPr id="15" name="Text 9"/>
          <p:cNvSpPr/>
          <p:nvPr/>
        </p:nvSpPr>
        <p:spPr>
          <a:xfrm>
            <a:off x="1970603" y="5232321"/>
            <a:ext cx="2835235" cy="354330"/>
          </a:xfrm>
          <a:prstGeom prst="rect">
            <a:avLst/>
          </a:prstGeom>
          <a:noFill/>
          <a:ln/>
        </p:spPr>
        <p:txBody>
          <a:bodyPr wrap="none" lIns="0" tIns="0" rIns="0" bIns="0" rtlCol="0" anchor="t"/>
          <a:lstStyle/>
          <a:p>
            <a:pPr marL="0" indent="0" algn="r">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Payment</a:t>
            </a:r>
            <a:endParaRPr lang="en-US" sz="2200" dirty="0"/>
          </a:p>
        </p:txBody>
      </p:sp>
      <p:sp>
        <p:nvSpPr>
          <p:cNvPr id="16" name="Text 10"/>
          <p:cNvSpPr/>
          <p:nvPr/>
        </p:nvSpPr>
        <p:spPr>
          <a:xfrm>
            <a:off x="793790" y="5722739"/>
            <a:ext cx="4012049" cy="725805"/>
          </a:xfrm>
          <a:prstGeom prst="rect">
            <a:avLst/>
          </a:prstGeom>
          <a:noFill/>
          <a:ln/>
        </p:spPr>
        <p:txBody>
          <a:bodyPr wrap="square" lIns="0" tIns="0" rIns="0" bIns="0" rtlCol="0" anchor="t"/>
          <a:lstStyle/>
          <a:p>
            <a:pPr marL="0" indent="0" algn="r">
              <a:lnSpc>
                <a:spcPts val="2850"/>
              </a:lnSpc>
              <a:buNone/>
            </a:pPr>
            <a:r>
              <a:rPr lang="en-US" sz="1750" dirty="0">
                <a:solidFill>
                  <a:srgbClr val="443728"/>
                </a:solidFill>
                <a:latin typeface="Open Sans" pitchFamily="34" charset="0"/>
                <a:ea typeface="Open Sans" pitchFamily="34" charset="-122"/>
                <a:cs typeface="Open Sans" pitchFamily="34" charset="-120"/>
              </a:rPr>
              <a:t>Financial transactions linked to approved claims</a:t>
            </a:r>
            <a:endParaRPr lang="en-US" sz="1750" dirty="0"/>
          </a:p>
        </p:txBody>
      </p:sp>
      <p:pic>
        <p:nvPicPr>
          <p:cNvPr id="17" name="Image 4" descr="preencoded.png"/>
          <p:cNvPicPr>
            <a:picLocks noChangeAspect="1"/>
          </p:cNvPicPr>
          <p:nvPr/>
        </p:nvPicPr>
        <p:blipFill>
          <a:blip r:embed="rId7"/>
          <a:stretch>
            <a:fillRect/>
          </a:stretch>
        </p:blipFill>
        <p:spPr>
          <a:xfrm>
            <a:off x="5032653" y="1922978"/>
            <a:ext cx="4564975" cy="4564975"/>
          </a:xfrm>
          <a:prstGeom prst="rect">
            <a:avLst/>
          </a:prstGeom>
        </p:spPr>
      </p:pic>
      <p:sp>
        <p:nvSpPr>
          <p:cNvPr id="18" name="Text 11"/>
          <p:cNvSpPr/>
          <p:nvPr/>
        </p:nvSpPr>
        <p:spPr>
          <a:xfrm>
            <a:off x="1743789" y="3597235"/>
            <a:ext cx="2835235" cy="354330"/>
          </a:xfrm>
          <a:prstGeom prst="rect">
            <a:avLst/>
          </a:prstGeom>
          <a:noFill/>
          <a:ln/>
        </p:spPr>
        <p:txBody>
          <a:bodyPr wrap="none" lIns="0" tIns="0" rIns="0" bIns="0" rtlCol="0" anchor="t"/>
          <a:lstStyle/>
          <a:p>
            <a:pPr marL="0" indent="0" algn="r">
              <a:lnSpc>
                <a:spcPts val="2750"/>
              </a:lnSpc>
              <a:buNone/>
            </a:pPr>
            <a:r>
              <a:rPr lang="en-US" sz="2200" b="1" dirty="0">
                <a:solidFill>
                  <a:srgbClr val="443728"/>
                </a:solidFill>
                <a:latin typeface="Sitka Heading Semibold" pitchFamily="2" charset="0"/>
                <a:ea typeface="Crimson Pro Bold" pitchFamily="34" charset="-122"/>
                <a:cs typeface="Crimson Pro Bold" pitchFamily="34" charset="-120"/>
              </a:rPr>
              <a:t>Audit Log</a:t>
            </a:r>
            <a:endParaRPr lang="en-US" sz="2200" dirty="0"/>
          </a:p>
        </p:txBody>
      </p:sp>
      <p:sp>
        <p:nvSpPr>
          <p:cNvPr id="19" name="Text 12"/>
          <p:cNvSpPr/>
          <p:nvPr/>
        </p:nvSpPr>
        <p:spPr>
          <a:xfrm>
            <a:off x="793790" y="4087654"/>
            <a:ext cx="3785235" cy="725805"/>
          </a:xfrm>
          <a:prstGeom prst="rect">
            <a:avLst/>
          </a:prstGeom>
          <a:noFill/>
          <a:ln/>
        </p:spPr>
        <p:txBody>
          <a:bodyPr wrap="square" lIns="0" tIns="0" rIns="0" bIns="0" rtlCol="0" anchor="t"/>
          <a:lstStyle/>
          <a:p>
            <a:pPr marL="0" indent="0" algn="r">
              <a:lnSpc>
                <a:spcPts val="2850"/>
              </a:lnSpc>
              <a:buNone/>
            </a:pPr>
            <a:r>
              <a:rPr lang="en-US" sz="1750" dirty="0">
                <a:solidFill>
                  <a:srgbClr val="443728"/>
                </a:solidFill>
                <a:latin typeface="Open Sans" pitchFamily="34" charset="0"/>
                <a:ea typeface="Open Sans" pitchFamily="34" charset="-122"/>
                <a:cs typeface="Open Sans" pitchFamily="34" charset="-120"/>
              </a:rPr>
              <a:t>Complete history of changes across all system entities</a:t>
            </a:r>
            <a:endParaRPr lang="en-US" sz="1750" dirty="0"/>
          </a:p>
        </p:txBody>
      </p:sp>
      <p:pic>
        <p:nvPicPr>
          <p:cNvPr id="20" name="Image 5" descr="preencoded.png"/>
          <p:cNvPicPr>
            <a:picLocks noChangeAspect="1"/>
          </p:cNvPicPr>
          <p:nvPr/>
        </p:nvPicPr>
        <p:blipFill>
          <a:blip r:embed="rId8"/>
          <a:stretch>
            <a:fillRect/>
          </a:stretch>
        </p:blipFill>
        <p:spPr>
          <a:xfrm>
            <a:off x="5032653" y="1922978"/>
            <a:ext cx="4564975" cy="4564975"/>
          </a:xfrm>
          <a:prstGeom prst="rect">
            <a:avLst/>
          </a:prstGeom>
        </p:spPr>
      </p:pic>
      <p:sp>
        <p:nvSpPr>
          <p:cNvPr id="21" name="Text 13"/>
          <p:cNvSpPr/>
          <p:nvPr/>
        </p:nvSpPr>
        <p:spPr>
          <a:xfrm>
            <a:off x="793790" y="6743105"/>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43728"/>
                </a:solidFill>
                <a:latin typeface="Open Sans" pitchFamily="34" charset="0"/>
                <a:ea typeface="Open Sans" pitchFamily="34" charset="-122"/>
                <a:cs typeface="Open Sans" pitchFamily="34" charset="-120"/>
              </a:rPr>
              <a:t>Relational database design with indexing ensures fast query performance. One-to-many relationships enable efficient data retrieval while maintaining data integrity through foreign key constraints.</a:t>
            </a:r>
            <a:endParaRPr lang="en-US" sz="1750" dirty="0"/>
          </a:p>
        </p:txBody>
      </p:sp>
      <p:pic>
        <p:nvPicPr>
          <p:cNvPr id="22" name="Picture 21">
            <a:extLst>
              <a:ext uri="{FF2B5EF4-FFF2-40B4-BE49-F238E27FC236}">
                <a16:creationId xmlns:a16="http://schemas.microsoft.com/office/drawing/2014/main" id="{8DC5BF93-B0C4-E111-8709-98738448D28D}"/>
              </a:ext>
            </a:extLst>
          </p:cNvPr>
          <p:cNvPicPr>
            <a:picLocks noChangeAspect="1"/>
          </p:cNvPicPr>
          <p:nvPr/>
        </p:nvPicPr>
        <p:blipFill>
          <a:blip r:embed="rId9"/>
          <a:stretch>
            <a:fillRect/>
          </a:stretch>
        </p:blipFill>
        <p:spPr>
          <a:xfrm>
            <a:off x="12420493" y="7635794"/>
            <a:ext cx="2209907" cy="58110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56774"/>
            <a:ext cx="5698093" cy="637937"/>
          </a:xfrm>
          <a:prstGeom prst="rect">
            <a:avLst/>
          </a:prstGeom>
          <a:noFill/>
          <a:ln/>
        </p:spPr>
        <p:txBody>
          <a:bodyPr wrap="none" lIns="0" tIns="0" rIns="0" bIns="0" rtlCol="0" anchor="t"/>
          <a:lstStyle/>
          <a:p>
            <a:pPr marL="0" indent="0" algn="l">
              <a:lnSpc>
                <a:spcPts val="5000"/>
              </a:lnSpc>
              <a:buNone/>
            </a:pPr>
            <a:r>
              <a:rPr lang="en-US" sz="4000" b="1" dirty="0">
                <a:solidFill>
                  <a:srgbClr val="443728"/>
                </a:solidFill>
                <a:latin typeface="Sitka Heading Semibold" pitchFamily="2" charset="0"/>
                <a:ea typeface="Crimson Pro Bold" pitchFamily="34" charset="-122"/>
                <a:cs typeface="Crimson Pro Bold" pitchFamily="34" charset="-120"/>
              </a:rPr>
              <a:t>Advanced System Features</a:t>
            </a:r>
            <a:endParaRPr lang="en-US" sz="4000" dirty="0">
              <a:latin typeface="Sitka Heading Semibold" pitchFamily="2" charset="0"/>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1862138"/>
            <a:ext cx="408265" cy="408265"/>
          </a:xfrm>
          <a:prstGeom prst="rect">
            <a:avLst/>
          </a:prstGeom>
        </p:spPr>
      </p:pic>
      <p:sp>
        <p:nvSpPr>
          <p:cNvPr id="4" name="Text 1"/>
          <p:cNvSpPr/>
          <p:nvPr/>
        </p:nvSpPr>
        <p:spPr>
          <a:xfrm>
            <a:off x="1431608" y="1932265"/>
            <a:ext cx="3556754" cy="637699"/>
          </a:xfrm>
          <a:prstGeom prst="rect">
            <a:avLst/>
          </a:prstGeom>
          <a:noFill/>
          <a:ln/>
        </p:spPr>
        <p:txBody>
          <a:bodyPr wrap="square" lIns="0" tIns="0" rIns="0" bIns="0" rtlCol="0" anchor="t"/>
          <a:lstStyle/>
          <a:p>
            <a:pPr marL="0" indent="0" algn="l">
              <a:lnSpc>
                <a:spcPts val="2500"/>
              </a:lnSpc>
              <a:buNone/>
            </a:pPr>
            <a:r>
              <a:rPr lang="en-US" sz="2000" b="1" dirty="0">
                <a:solidFill>
                  <a:srgbClr val="443728"/>
                </a:solidFill>
                <a:latin typeface="Sitka Heading Semibold" pitchFamily="2" charset="0"/>
                <a:ea typeface="Crimson Pro Bold" pitchFamily="34" charset="-122"/>
                <a:cs typeface="Crimson Pro Bold" pitchFamily="34" charset="-120"/>
              </a:rPr>
              <a:t>Secure Document Upload &amp; Storage</a:t>
            </a:r>
            <a:endParaRPr lang="en-US" sz="2000" dirty="0"/>
          </a:p>
        </p:txBody>
      </p:sp>
      <p:sp>
        <p:nvSpPr>
          <p:cNvPr id="5" name="Text 2"/>
          <p:cNvSpPr/>
          <p:nvPr/>
        </p:nvSpPr>
        <p:spPr>
          <a:xfrm>
            <a:off x="1431608" y="2680097"/>
            <a:ext cx="3556754" cy="620554"/>
          </a:xfrm>
          <a:prstGeom prst="rect">
            <a:avLst/>
          </a:prstGeom>
          <a:noFill/>
          <a:ln/>
        </p:spPr>
        <p:txBody>
          <a:bodyPr wrap="square" lIns="0" tIns="0" rIns="0" bIns="0" rtlCol="0" anchor="t"/>
          <a:lstStyle/>
          <a:p>
            <a:pPr marL="0" indent="0" algn="l">
              <a:lnSpc>
                <a:spcPts val="2400"/>
              </a:lnSpc>
              <a:buNone/>
            </a:pPr>
            <a:r>
              <a:rPr lang="en-US" sz="1600" dirty="0">
                <a:solidFill>
                  <a:srgbClr val="443728"/>
                </a:solidFill>
                <a:latin typeface="Open Sans" pitchFamily="34" charset="0"/>
                <a:ea typeface="Open Sans" pitchFamily="34" charset="-122"/>
                <a:cs typeface="Open Sans" pitchFamily="34" charset="-120"/>
              </a:rPr>
              <a:t>Customers upload documents for policy and claim processing</a:t>
            </a:r>
            <a:endParaRPr lang="en-US" sz="1600" dirty="0"/>
          </a:p>
        </p:txBody>
      </p:sp>
      <p:sp>
        <p:nvSpPr>
          <p:cNvPr id="6" name="Text 3"/>
          <p:cNvSpPr/>
          <p:nvPr/>
        </p:nvSpPr>
        <p:spPr>
          <a:xfrm>
            <a:off x="1431608" y="3410783"/>
            <a:ext cx="3556754" cy="2921079"/>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43728"/>
                </a:solidFill>
                <a:latin typeface="Open Sans" pitchFamily="34" charset="0"/>
                <a:ea typeface="Open Sans" pitchFamily="34" charset="-122"/>
                <a:cs typeface="Open Sans" pitchFamily="34" charset="-120"/>
              </a:rPr>
              <a:t>Supported formats: PDF, JPG, PNG</a:t>
            </a:r>
            <a:endParaRPr lang="en-US" sz="1600" dirty="0"/>
          </a:p>
          <a:p>
            <a:pPr marL="342900" indent="-342900" algn="l">
              <a:lnSpc>
                <a:spcPts val="2400"/>
              </a:lnSpc>
              <a:buSzPct val="100000"/>
              <a:buChar char="•"/>
            </a:pPr>
            <a:r>
              <a:rPr lang="en-US" sz="1600" dirty="0">
                <a:solidFill>
                  <a:srgbClr val="443728"/>
                </a:solidFill>
                <a:latin typeface="Open Sans" pitchFamily="34" charset="0"/>
                <a:ea typeface="Open Sans" pitchFamily="34" charset="-122"/>
                <a:cs typeface="Open Sans" pitchFamily="34" charset="-120"/>
              </a:rPr>
              <a:t>Files stored in wwwroot/uploads folder structure (not in database)</a:t>
            </a:r>
            <a:endParaRPr lang="en-US" sz="1600" dirty="0"/>
          </a:p>
          <a:p>
            <a:pPr marL="342900" indent="-342900" algn="l">
              <a:lnSpc>
                <a:spcPts val="2400"/>
              </a:lnSpc>
              <a:buSzPct val="100000"/>
              <a:buChar char="•"/>
            </a:pPr>
            <a:r>
              <a:rPr lang="en-US" sz="1600" dirty="0">
                <a:solidFill>
                  <a:srgbClr val="443728"/>
                </a:solidFill>
                <a:latin typeface="Open Sans" pitchFamily="34" charset="0"/>
                <a:ea typeface="Open Sans" pitchFamily="34" charset="-122"/>
                <a:cs typeface="Open Sans" pitchFamily="34" charset="-120"/>
              </a:rPr>
              <a:t>Folder structure: wwwroot/uploads/policies/{policyId}/ and wwwroot/uploads/claims/{claimId}/</a:t>
            </a:r>
            <a:endParaRPr lang="en-US" sz="1600" dirty="0"/>
          </a:p>
        </p:txBody>
      </p:sp>
      <p:sp>
        <p:nvSpPr>
          <p:cNvPr id="7" name="Text 4"/>
          <p:cNvSpPr/>
          <p:nvPr/>
        </p:nvSpPr>
        <p:spPr>
          <a:xfrm>
            <a:off x="1431608" y="6441996"/>
            <a:ext cx="3556754" cy="930831"/>
          </a:xfrm>
          <a:prstGeom prst="rect">
            <a:avLst/>
          </a:prstGeom>
          <a:noFill/>
          <a:ln/>
        </p:spPr>
        <p:txBody>
          <a:bodyPr wrap="square" lIns="0" tIns="0" rIns="0" bIns="0" rtlCol="0" anchor="t"/>
          <a:lstStyle/>
          <a:p>
            <a:pPr marL="0" indent="0" algn="l">
              <a:lnSpc>
                <a:spcPts val="2400"/>
              </a:lnSpc>
              <a:buNone/>
            </a:pPr>
            <a:r>
              <a:rPr lang="en-US" sz="1600" dirty="0">
                <a:solidFill>
                  <a:srgbClr val="443728"/>
                </a:solidFill>
                <a:latin typeface="Open Sans" pitchFamily="34" charset="0"/>
                <a:ea typeface="Open Sans" pitchFamily="34" charset="-122"/>
                <a:cs typeface="Open Sans" pitchFamily="34" charset="-120"/>
              </a:rPr>
              <a:t>Benefits: Efficient file management, reduced database size, secure storage, easy retrieval</a:t>
            </a:r>
            <a:endParaRPr lang="en-US" sz="1600" dirty="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17914" y="1862138"/>
            <a:ext cx="408265" cy="408265"/>
          </a:xfrm>
          <a:prstGeom prst="rect">
            <a:avLst/>
          </a:prstGeom>
        </p:spPr>
      </p:pic>
      <p:sp>
        <p:nvSpPr>
          <p:cNvPr id="9" name="Text 5"/>
          <p:cNvSpPr/>
          <p:nvPr/>
        </p:nvSpPr>
        <p:spPr>
          <a:xfrm>
            <a:off x="5855732" y="1932265"/>
            <a:ext cx="3556754" cy="637699"/>
          </a:xfrm>
          <a:prstGeom prst="rect">
            <a:avLst/>
          </a:prstGeom>
          <a:noFill/>
          <a:ln/>
        </p:spPr>
        <p:txBody>
          <a:bodyPr wrap="square" lIns="0" tIns="0" rIns="0" bIns="0" rtlCol="0" anchor="t"/>
          <a:lstStyle/>
          <a:p>
            <a:pPr marL="0" indent="0" algn="l">
              <a:lnSpc>
                <a:spcPts val="2500"/>
              </a:lnSpc>
              <a:buNone/>
            </a:pPr>
            <a:r>
              <a:rPr lang="en-US" sz="2000" b="1" dirty="0">
                <a:solidFill>
                  <a:srgbClr val="443728"/>
                </a:solidFill>
                <a:latin typeface="Sitka Heading Semibold" pitchFamily="2" charset="0"/>
                <a:ea typeface="Crimson Pro Bold" pitchFamily="34" charset="-122"/>
                <a:cs typeface="Crimson Pro Bold" pitchFamily="34" charset="-120"/>
              </a:rPr>
              <a:t>User Interface Personalization (Dark/Light Mode)</a:t>
            </a:r>
            <a:endParaRPr lang="en-US" sz="2000" dirty="0"/>
          </a:p>
        </p:txBody>
      </p:sp>
      <p:sp>
        <p:nvSpPr>
          <p:cNvPr id="10" name="Text 6"/>
          <p:cNvSpPr/>
          <p:nvPr/>
        </p:nvSpPr>
        <p:spPr>
          <a:xfrm>
            <a:off x="5855732" y="2680097"/>
            <a:ext cx="3556754" cy="620554"/>
          </a:xfrm>
          <a:prstGeom prst="rect">
            <a:avLst/>
          </a:prstGeom>
          <a:noFill/>
          <a:ln/>
        </p:spPr>
        <p:txBody>
          <a:bodyPr wrap="square" lIns="0" tIns="0" rIns="0" bIns="0" rtlCol="0" anchor="t"/>
          <a:lstStyle/>
          <a:p>
            <a:pPr marL="0" indent="0" algn="l">
              <a:lnSpc>
                <a:spcPts val="2400"/>
              </a:lnSpc>
              <a:buNone/>
            </a:pPr>
            <a:r>
              <a:rPr lang="en-US" sz="1600" dirty="0">
                <a:solidFill>
                  <a:srgbClr val="443728"/>
                </a:solidFill>
                <a:latin typeface="Open Sans" pitchFamily="34" charset="0"/>
                <a:ea typeface="Open Sans" pitchFamily="34" charset="-122"/>
                <a:cs typeface="Open Sans" pitchFamily="34" charset="-120"/>
              </a:rPr>
              <a:t>Angular + Tailwind CSS theme utilities</a:t>
            </a:r>
            <a:endParaRPr lang="en-US" sz="1600" dirty="0"/>
          </a:p>
        </p:txBody>
      </p:sp>
      <p:sp>
        <p:nvSpPr>
          <p:cNvPr id="11" name="Text 7"/>
          <p:cNvSpPr/>
          <p:nvPr/>
        </p:nvSpPr>
        <p:spPr>
          <a:xfrm>
            <a:off x="5855732" y="3410783"/>
            <a:ext cx="3556754" cy="1305401"/>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43728"/>
                </a:solidFill>
                <a:latin typeface="Open Sans" pitchFamily="34" charset="0"/>
                <a:ea typeface="Open Sans" pitchFamily="34" charset="-122"/>
                <a:cs typeface="Open Sans" pitchFamily="34" charset="-120"/>
              </a:rPr>
              <a:t>Users can toggle between Dark Mode and Light Mode</a:t>
            </a:r>
            <a:endParaRPr lang="en-US" sz="1600" dirty="0"/>
          </a:p>
          <a:p>
            <a:pPr marL="342900" indent="-342900" algn="l">
              <a:lnSpc>
                <a:spcPts val="2400"/>
              </a:lnSpc>
              <a:buSzPct val="100000"/>
              <a:buChar char="•"/>
            </a:pPr>
            <a:r>
              <a:rPr lang="en-US" sz="1600" dirty="0">
                <a:solidFill>
                  <a:srgbClr val="443728"/>
                </a:solidFill>
                <a:latin typeface="Open Sans" pitchFamily="34" charset="0"/>
                <a:ea typeface="Open Sans" pitchFamily="34" charset="-122"/>
                <a:cs typeface="Open Sans" pitchFamily="34" charset="-120"/>
              </a:rPr>
              <a:t>Theme preference persisted in local storage</a:t>
            </a:r>
            <a:endParaRPr lang="en-US" sz="1600" dirty="0"/>
          </a:p>
        </p:txBody>
      </p:sp>
      <p:sp>
        <p:nvSpPr>
          <p:cNvPr id="12" name="Text 8"/>
          <p:cNvSpPr/>
          <p:nvPr/>
        </p:nvSpPr>
        <p:spPr>
          <a:xfrm>
            <a:off x="5855732" y="4826318"/>
            <a:ext cx="3556754" cy="930831"/>
          </a:xfrm>
          <a:prstGeom prst="rect">
            <a:avLst/>
          </a:prstGeom>
          <a:noFill/>
          <a:ln/>
        </p:spPr>
        <p:txBody>
          <a:bodyPr wrap="square" lIns="0" tIns="0" rIns="0" bIns="0" rtlCol="0" anchor="t"/>
          <a:lstStyle/>
          <a:p>
            <a:pPr marL="0" indent="0" algn="l">
              <a:lnSpc>
                <a:spcPts val="2400"/>
              </a:lnSpc>
              <a:buNone/>
            </a:pPr>
            <a:r>
              <a:rPr lang="en-US" sz="1600" dirty="0">
                <a:solidFill>
                  <a:srgbClr val="443728"/>
                </a:solidFill>
                <a:latin typeface="Open Sans" pitchFamily="34" charset="0"/>
                <a:ea typeface="Open Sans" pitchFamily="34" charset="-122"/>
                <a:cs typeface="Open Sans" pitchFamily="34" charset="-120"/>
              </a:rPr>
              <a:t>Benefits: Improved accessibility, reduced eye strain, modern UI, customizable interface</a:t>
            </a:r>
            <a:endParaRPr lang="en-US" sz="1600" dirty="0"/>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42038" y="1862138"/>
            <a:ext cx="408265" cy="408265"/>
          </a:xfrm>
          <a:prstGeom prst="rect">
            <a:avLst/>
          </a:prstGeom>
        </p:spPr>
      </p:pic>
      <p:sp>
        <p:nvSpPr>
          <p:cNvPr id="14" name="Text 9"/>
          <p:cNvSpPr/>
          <p:nvPr/>
        </p:nvSpPr>
        <p:spPr>
          <a:xfrm>
            <a:off x="10279856" y="1932265"/>
            <a:ext cx="3297079" cy="318849"/>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Sitka Heading Semibold" pitchFamily="2" charset="0"/>
                <a:ea typeface="Crimson Pro Bold" pitchFamily="34" charset="-122"/>
                <a:cs typeface="Crimson Pro Bold" pitchFamily="34" charset="-120"/>
              </a:rPr>
              <a:t>Real-Time Notification System</a:t>
            </a:r>
            <a:endParaRPr lang="en-US" sz="2000" dirty="0"/>
          </a:p>
        </p:txBody>
      </p:sp>
      <p:sp>
        <p:nvSpPr>
          <p:cNvPr id="15" name="Text 10"/>
          <p:cNvSpPr/>
          <p:nvPr/>
        </p:nvSpPr>
        <p:spPr>
          <a:xfrm>
            <a:off x="10279856" y="2361248"/>
            <a:ext cx="3556754" cy="620554"/>
          </a:xfrm>
          <a:prstGeom prst="rect">
            <a:avLst/>
          </a:prstGeom>
          <a:noFill/>
          <a:ln/>
        </p:spPr>
        <p:txBody>
          <a:bodyPr wrap="square" lIns="0" tIns="0" rIns="0" bIns="0" rtlCol="0" anchor="t"/>
          <a:lstStyle/>
          <a:p>
            <a:pPr marL="0" indent="0" algn="l">
              <a:lnSpc>
                <a:spcPts val="2400"/>
              </a:lnSpc>
              <a:buNone/>
            </a:pPr>
            <a:r>
              <a:rPr lang="en-US" sz="1600" dirty="0">
                <a:solidFill>
                  <a:srgbClr val="443728"/>
                </a:solidFill>
                <a:latin typeface="Open Sans" pitchFamily="34" charset="0"/>
                <a:ea typeface="Open Sans" pitchFamily="34" charset="-122"/>
                <a:cs typeface="Open Sans" pitchFamily="34" charset="-120"/>
              </a:rPr>
              <a:t>Implemented using SignalR for real-time communication</a:t>
            </a:r>
            <a:endParaRPr lang="en-US" sz="1600" dirty="0"/>
          </a:p>
        </p:txBody>
      </p:sp>
      <p:sp>
        <p:nvSpPr>
          <p:cNvPr id="16" name="Text 11"/>
          <p:cNvSpPr/>
          <p:nvPr/>
        </p:nvSpPr>
        <p:spPr>
          <a:xfrm>
            <a:off x="10279856" y="3091934"/>
            <a:ext cx="3556754" cy="2610803"/>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443728"/>
                </a:solidFill>
                <a:latin typeface="Open Sans" pitchFamily="34" charset="0"/>
                <a:ea typeface="Open Sans" pitchFamily="34" charset="-122"/>
                <a:cs typeface="Open Sans" pitchFamily="34" charset="-120"/>
              </a:rPr>
              <a:t>Notifications stored in database</a:t>
            </a:r>
            <a:endParaRPr lang="en-US" sz="1600" dirty="0"/>
          </a:p>
          <a:p>
            <a:pPr marL="342900" indent="-342900" algn="l">
              <a:lnSpc>
                <a:spcPts val="2400"/>
              </a:lnSpc>
              <a:buSzPct val="100000"/>
              <a:buChar char="•"/>
            </a:pPr>
            <a:r>
              <a:rPr lang="en-US" sz="1600" dirty="0">
                <a:solidFill>
                  <a:srgbClr val="443728"/>
                </a:solidFill>
                <a:latin typeface="Open Sans" pitchFamily="34" charset="0"/>
                <a:ea typeface="Open Sans" pitchFamily="34" charset="-122"/>
                <a:cs typeface="Open Sans" pitchFamily="34" charset="-120"/>
              </a:rPr>
              <a:t>Examples: Policy approvals, claim status changes, payment reminders, agent assignments, renewal reminders</a:t>
            </a:r>
            <a:endParaRPr lang="en-US" sz="1600" dirty="0"/>
          </a:p>
          <a:p>
            <a:pPr marL="342900" indent="-342900" algn="l">
              <a:lnSpc>
                <a:spcPts val="2400"/>
              </a:lnSpc>
              <a:buSzPct val="100000"/>
              <a:buChar char="•"/>
            </a:pPr>
            <a:r>
              <a:rPr lang="en-US" sz="1600" dirty="0">
                <a:solidFill>
                  <a:srgbClr val="443728"/>
                </a:solidFill>
                <a:latin typeface="Open Sans" pitchFamily="34" charset="0"/>
                <a:ea typeface="Open Sans" pitchFamily="34" charset="-122"/>
                <a:cs typeface="Open Sans" pitchFamily="34" charset="-120"/>
              </a:rPr>
              <a:t>Role-based notifications for Customer, Agent, Claims Officer, Admin</a:t>
            </a:r>
            <a:endParaRPr lang="en-US" sz="1600" dirty="0"/>
          </a:p>
        </p:txBody>
      </p:sp>
      <p:sp>
        <p:nvSpPr>
          <p:cNvPr id="17" name="Text 12"/>
          <p:cNvSpPr/>
          <p:nvPr/>
        </p:nvSpPr>
        <p:spPr>
          <a:xfrm>
            <a:off x="10279856" y="5812869"/>
            <a:ext cx="3556754" cy="620554"/>
          </a:xfrm>
          <a:prstGeom prst="rect">
            <a:avLst/>
          </a:prstGeom>
          <a:noFill/>
          <a:ln/>
        </p:spPr>
        <p:txBody>
          <a:bodyPr wrap="square" lIns="0" tIns="0" rIns="0" bIns="0" rtlCol="0" anchor="t"/>
          <a:lstStyle/>
          <a:p>
            <a:pPr marL="0" indent="0" algn="l">
              <a:lnSpc>
                <a:spcPts val="2400"/>
              </a:lnSpc>
              <a:buNone/>
            </a:pPr>
            <a:r>
              <a:rPr lang="en-US" sz="1600" dirty="0">
                <a:solidFill>
                  <a:srgbClr val="443728"/>
                </a:solidFill>
                <a:latin typeface="Open Sans" pitchFamily="34" charset="0"/>
                <a:ea typeface="Open Sans" pitchFamily="34" charset="-122"/>
                <a:cs typeface="Open Sans" pitchFamily="34" charset="-120"/>
              </a:rPr>
              <a:t>Benefits: Improved communication, faster response, better transparency</a:t>
            </a:r>
            <a:endParaRPr lang="en-US" sz="1600" dirty="0"/>
          </a:p>
        </p:txBody>
      </p:sp>
      <p:pic>
        <p:nvPicPr>
          <p:cNvPr id="19" name="Picture 18">
            <a:extLst>
              <a:ext uri="{FF2B5EF4-FFF2-40B4-BE49-F238E27FC236}">
                <a16:creationId xmlns:a16="http://schemas.microsoft.com/office/drawing/2014/main" id="{21385D4C-3F93-1A48-E988-234BF9DD2692}"/>
              </a:ext>
            </a:extLst>
          </p:cNvPr>
          <p:cNvPicPr>
            <a:picLocks noChangeAspect="1"/>
          </p:cNvPicPr>
          <p:nvPr/>
        </p:nvPicPr>
        <p:blipFill>
          <a:blip r:embed="rId9"/>
          <a:stretch>
            <a:fillRect/>
          </a:stretch>
        </p:blipFill>
        <p:spPr>
          <a:xfrm>
            <a:off x="12420493" y="7635794"/>
            <a:ext cx="2209907" cy="58110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1385D4C-3F93-1A48-E988-234BF9DD2692}"/>
              </a:ext>
            </a:extLst>
          </p:cNvPr>
          <p:cNvPicPr>
            <a:picLocks noChangeAspect="1"/>
          </p:cNvPicPr>
          <p:nvPr/>
        </p:nvPicPr>
        <p:blipFill>
          <a:blip r:embed="rId2"/>
          <a:stretch>
            <a:fillRect/>
          </a:stretch>
        </p:blipFill>
        <p:spPr>
          <a:xfrm>
            <a:off x="12420493" y="7648494"/>
            <a:ext cx="2209907" cy="581106"/>
          </a:xfrm>
          <a:prstGeom prst="rect">
            <a:avLst/>
          </a:prstGeom>
        </p:spPr>
      </p:pic>
      <p:sp>
        <p:nvSpPr>
          <p:cNvPr id="4" name="TextBox 3">
            <a:extLst>
              <a:ext uri="{FF2B5EF4-FFF2-40B4-BE49-F238E27FC236}">
                <a16:creationId xmlns:a16="http://schemas.microsoft.com/office/drawing/2014/main" id="{F3384D22-D842-2203-DB11-A7A4CF3F146D}"/>
              </a:ext>
            </a:extLst>
          </p:cNvPr>
          <p:cNvSpPr txBox="1"/>
          <p:nvPr/>
        </p:nvSpPr>
        <p:spPr>
          <a:xfrm>
            <a:off x="5105293" y="1093373"/>
            <a:ext cx="7315200" cy="715965"/>
          </a:xfrm>
          <a:prstGeom prst="rect">
            <a:avLst/>
          </a:prstGeom>
          <a:noFill/>
        </p:spPr>
        <p:txBody>
          <a:bodyPr wrap="square">
            <a:spAutoFit/>
          </a:bodyPr>
          <a:lstStyle/>
          <a:p>
            <a:pPr marL="0" indent="0" algn="l">
              <a:lnSpc>
                <a:spcPts val="5000"/>
              </a:lnSpc>
              <a:buNone/>
            </a:pPr>
            <a:r>
              <a:rPr lang="en-US" sz="4000" dirty="0">
                <a:latin typeface="Sitka Heading Semibold" pitchFamily="2" charset="0"/>
              </a:rPr>
              <a:t>Acknowledgement</a:t>
            </a:r>
          </a:p>
        </p:txBody>
      </p:sp>
      <p:sp>
        <p:nvSpPr>
          <p:cNvPr id="8" name="TextBox 7">
            <a:extLst>
              <a:ext uri="{FF2B5EF4-FFF2-40B4-BE49-F238E27FC236}">
                <a16:creationId xmlns:a16="http://schemas.microsoft.com/office/drawing/2014/main" id="{8DBE35B7-9CDF-543E-FA1F-294DE0CE2C60}"/>
              </a:ext>
            </a:extLst>
          </p:cNvPr>
          <p:cNvSpPr txBox="1"/>
          <p:nvPr/>
        </p:nvSpPr>
        <p:spPr>
          <a:xfrm>
            <a:off x="819150" y="2399015"/>
            <a:ext cx="12992100" cy="465980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000" dirty="0">
                <a:latin typeface="Open Sans" panose="020B0606030504020204" pitchFamily="34" charset="0"/>
                <a:ea typeface="Open Sans" panose="020B0606030504020204" pitchFamily="34" charset="0"/>
                <a:cs typeface="Open Sans" panose="020B0606030504020204" pitchFamily="34" charset="0"/>
              </a:rPr>
              <a:t>I would like to sincerely thank </a:t>
            </a:r>
            <a:r>
              <a:rPr lang="en-IN" sz="2000" b="1" dirty="0">
                <a:latin typeface="Open Sans" panose="020B0606030504020204" pitchFamily="34" charset="0"/>
                <a:ea typeface="Open Sans" panose="020B0606030504020204" pitchFamily="34" charset="0"/>
                <a:cs typeface="Open Sans" panose="020B0606030504020204" pitchFamily="34" charset="0"/>
              </a:rPr>
              <a:t>The Hartford</a:t>
            </a:r>
            <a:r>
              <a:rPr lang="en-IN" sz="2000" dirty="0">
                <a:latin typeface="Open Sans" panose="020B0606030504020204" pitchFamily="34" charset="0"/>
                <a:ea typeface="Open Sans" panose="020B0606030504020204" pitchFamily="34" charset="0"/>
                <a:cs typeface="Open Sans" panose="020B0606030504020204" pitchFamily="34" charset="0"/>
              </a:rPr>
              <a:t> for providing this opportunity and for continuously supporting learning and innovation.</a:t>
            </a:r>
          </a:p>
          <a:p>
            <a:pPr marL="285750" indent="-285750">
              <a:lnSpc>
                <a:spcPct val="150000"/>
              </a:lnSpc>
              <a:buFont typeface="Arial" panose="020B0604020202020204" pitchFamily="34" charset="0"/>
              <a:buChar char="•"/>
            </a:pPr>
            <a:r>
              <a:rPr lang="en-IN" sz="2000" dirty="0">
                <a:latin typeface="Open Sans" panose="020B0606030504020204" pitchFamily="34" charset="0"/>
                <a:ea typeface="Open Sans" panose="020B0606030504020204" pitchFamily="34" charset="0"/>
                <a:cs typeface="Open Sans" panose="020B0606030504020204" pitchFamily="34" charset="0"/>
              </a:rPr>
              <a:t>I would also like to express my special thanks to </a:t>
            </a:r>
            <a:r>
              <a:rPr lang="en-IN" sz="2000" b="1" dirty="0">
                <a:latin typeface="Open Sans" panose="020B0606030504020204" pitchFamily="34" charset="0"/>
                <a:ea typeface="Open Sans" panose="020B0606030504020204" pitchFamily="34" charset="0"/>
                <a:cs typeface="Open Sans" panose="020B0606030504020204" pitchFamily="34" charset="0"/>
              </a:rPr>
              <a:t>Surya </a:t>
            </a:r>
            <a:r>
              <a:rPr lang="en-IN" sz="2000" b="1" dirty="0" err="1">
                <a:latin typeface="Open Sans" panose="020B0606030504020204" pitchFamily="34" charset="0"/>
                <a:ea typeface="Open Sans" panose="020B0606030504020204" pitchFamily="34" charset="0"/>
                <a:cs typeface="Open Sans" panose="020B0606030504020204" pitchFamily="34" charset="0"/>
              </a:rPr>
              <a:t>Thammiraju</a:t>
            </a:r>
            <a:r>
              <a:rPr lang="en-IN" sz="2000" dirty="0">
                <a:latin typeface="Open Sans" panose="020B0606030504020204" pitchFamily="34" charset="0"/>
                <a:ea typeface="Open Sans" panose="020B0606030504020204" pitchFamily="34" charset="0"/>
                <a:cs typeface="Open Sans" panose="020B0606030504020204" pitchFamily="34" charset="0"/>
              </a:rPr>
              <a:t>, Head and Managing Director, India</a:t>
            </a:r>
          </a:p>
          <a:p>
            <a:pPr>
              <a:lnSpc>
                <a:spcPct val="150000"/>
              </a:lnSpc>
            </a:pPr>
            <a:r>
              <a:rPr lang="en-IN" sz="2000" dirty="0">
                <a:latin typeface="Open Sans" panose="020B0606030504020204" pitchFamily="34" charset="0"/>
                <a:ea typeface="Open Sans" panose="020B0606030504020204" pitchFamily="34" charset="0"/>
                <a:cs typeface="Open Sans" panose="020B0606030504020204" pitchFamily="34" charset="0"/>
              </a:rPr>
              <a:t>    – The Hartford, for his leadership and encouragement.</a:t>
            </a:r>
          </a:p>
          <a:p>
            <a:pPr marL="285750" indent="-285750">
              <a:lnSpc>
                <a:spcPct val="150000"/>
              </a:lnSpc>
              <a:buFont typeface="Arial" panose="020B0604020202020204" pitchFamily="34" charset="0"/>
              <a:buChar char="•"/>
            </a:pPr>
            <a:r>
              <a:rPr lang="en-IN" sz="2000" dirty="0">
                <a:latin typeface="Open Sans" panose="020B0606030504020204" pitchFamily="34" charset="0"/>
                <a:ea typeface="Open Sans" panose="020B0606030504020204" pitchFamily="34" charset="0"/>
                <a:cs typeface="Open Sans" panose="020B0606030504020204" pitchFamily="34" charset="0"/>
              </a:rPr>
              <a:t>My heartfelt thanks to </a:t>
            </a:r>
            <a:r>
              <a:rPr lang="en-IN" sz="2000" b="1" dirty="0">
                <a:latin typeface="Open Sans" panose="020B0606030504020204" pitchFamily="34" charset="0"/>
                <a:ea typeface="Open Sans" panose="020B0606030504020204" pitchFamily="34" charset="0"/>
                <a:cs typeface="Open Sans" panose="020B0606030504020204" pitchFamily="34" charset="0"/>
              </a:rPr>
              <a:t>Ranjan Bhatnagar</a:t>
            </a:r>
            <a:r>
              <a:rPr lang="en-IN" sz="2000" dirty="0">
                <a:latin typeface="Open Sans" panose="020B0606030504020204" pitchFamily="34" charset="0"/>
                <a:ea typeface="Open Sans" panose="020B0606030504020204" pitchFamily="34" charset="0"/>
                <a:cs typeface="Open Sans" panose="020B0606030504020204" pitchFamily="34" charset="0"/>
              </a:rPr>
              <a:t>, Microsoft Certified Instructor with over 30 years of experience, for sharing his valuable knowledge and insights.</a:t>
            </a:r>
          </a:p>
          <a:p>
            <a:pPr marL="285750" indent="-285750">
              <a:lnSpc>
                <a:spcPct val="150000"/>
              </a:lnSpc>
              <a:buFont typeface="Arial" panose="020B0604020202020204" pitchFamily="34" charset="0"/>
              <a:buChar char="•"/>
            </a:pPr>
            <a:r>
              <a:rPr lang="en-IN" sz="2000" dirty="0">
                <a:latin typeface="Open Sans" panose="020B0606030504020204" pitchFamily="34" charset="0"/>
                <a:ea typeface="Open Sans" panose="020B0606030504020204" pitchFamily="34" charset="0"/>
                <a:cs typeface="Open Sans" panose="020B0606030504020204" pitchFamily="34" charset="0"/>
              </a:rPr>
              <a:t>I extend my gratitude to </a:t>
            </a:r>
            <a:r>
              <a:rPr lang="en-IN" sz="2000" b="1" dirty="0">
                <a:latin typeface="Open Sans" panose="020B0606030504020204" pitchFamily="34" charset="0"/>
                <a:ea typeface="Open Sans" panose="020B0606030504020204" pitchFamily="34" charset="0"/>
                <a:cs typeface="Open Sans" panose="020B0606030504020204" pitchFamily="34" charset="0"/>
              </a:rPr>
              <a:t>GUVI and the entire team</a:t>
            </a:r>
            <a:r>
              <a:rPr lang="en-IN" sz="2000" dirty="0">
                <a:latin typeface="Open Sans" panose="020B0606030504020204" pitchFamily="34" charset="0"/>
                <a:ea typeface="Open Sans" panose="020B0606030504020204" pitchFamily="34" charset="0"/>
                <a:cs typeface="Open Sans" panose="020B0606030504020204" pitchFamily="34" charset="0"/>
              </a:rPr>
              <a:t> for organizing and guiding us throughout this program.</a:t>
            </a:r>
          </a:p>
          <a:p>
            <a:pPr marL="285750" indent="-285750">
              <a:lnSpc>
                <a:spcPct val="150000"/>
              </a:lnSpc>
              <a:buFont typeface="Arial" panose="020B0604020202020204" pitchFamily="34" charset="0"/>
              <a:buChar char="•"/>
            </a:pPr>
            <a:r>
              <a:rPr lang="en-IN" sz="2000" dirty="0">
                <a:latin typeface="Open Sans" panose="020B0606030504020204" pitchFamily="34" charset="0"/>
                <a:ea typeface="Open Sans" panose="020B0606030504020204" pitchFamily="34" charset="0"/>
                <a:cs typeface="Open Sans" panose="020B0606030504020204" pitchFamily="34" charset="0"/>
              </a:rPr>
              <a:t>I would also like to thank </a:t>
            </a:r>
            <a:r>
              <a:rPr lang="en-IN" sz="2000" b="1" dirty="0">
                <a:latin typeface="Open Sans" panose="020B0606030504020204" pitchFamily="34" charset="0"/>
                <a:ea typeface="Open Sans" panose="020B0606030504020204" pitchFamily="34" charset="0"/>
                <a:cs typeface="Open Sans" panose="020B0606030504020204" pitchFamily="34" charset="0"/>
              </a:rPr>
              <a:t>Koti Rama Murthy Davuluri</a:t>
            </a:r>
            <a:r>
              <a:rPr lang="en-IN" sz="2000" dirty="0">
                <a:latin typeface="Open Sans" panose="020B0606030504020204" pitchFamily="34" charset="0"/>
                <a:ea typeface="Open Sans" panose="020B0606030504020204" pitchFamily="34" charset="0"/>
                <a:cs typeface="Open Sans" panose="020B0606030504020204" pitchFamily="34" charset="0"/>
              </a:rPr>
              <a:t>, Senior Software Engineer at The Hartford, for his guidance and technical support throughout this journey.</a:t>
            </a:r>
          </a:p>
        </p:txBody>
      </p:sp>
    </p:spTree>
    <p:extLst>
      <p:ext uri="{BB962C8B-B14F-4D97-AF65-F5344CB8AC3E}">
        <p14:creationId xmlns:p14="http://schemas.microsoft.com/office/powerpoint/2010/main" val="1909776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Thank You">
    <p:spTree>
      <p:nvGrpSpPr>
        <p:cNvPr id="1" name=""/>
        <p:cNvGrpSpPr/>
        <p:nvPr/>
      </p:nvGrpSpPr>
      <p:grpSpPr>
        <a:xfrm>
          <a:off x="0" y="0"/>
          <a:ext cx="0" cy="0"/>
          <a:chOff x="0" y="0"/>
          <a:chExt cx="0" cy="0"/>
        </a:xfrm>
      </p:grpSpPr>
      <p:sp>
        <p:nvSpPr>
          <p:cNvPr id="2" name="CenterCard"/>
          <p:cNvSpPr/>
          <p:nvPr/>
        </p:nvSpPr>
        <p:spPr>
          <a:xfrm>
            <a:off x="2286000" y="1511100"/>
            <a:ext cx="9057610" cy="4500000"/>
          </a:xfrm>
          <a:prstGeom prst="roundRect">
            <a:avLst>
              <a:gd name="adj" fmla="val 3887"/>
            </a:avLst>
          </a:prstGeom>
          <a:solidFill>
            <a:srgbClr val="EBE2E0"/>
          </a:solidFill>
          <a:ln w="7620">
            <a:solidFill>
              <a:srgbClr val="D1C8C6"/>
            </a:solidFill>
            <a:prstDash val="solid"/>
          </a:ln>
        </p:spPr>
      </p:sp>
      <p:sp>
        <p:nvSpPr>
          <p:cNvPr id="4" name="ThankYou"/>
          <p:cNvSpPr/>
          <p:nvPr/>
        </p:nvSpPr>
        <p:spPr>
          <a:xfrm>
            <a:off x="2286000" y="2600000"/>
            <a:ext cx="9057610" cy="1800000"/>
          </a:xfrm>
          <a:prstGeom prst="rect">
            <a:avLst/>
          </a:prstGeom>
          <a:noFill/>
          <a:ln/>
        </p:spPr>
        <p:txBody>
          <a:bodyPr wrap="none" lIns="0" tIns="0" rIns="0" bIns="0" rtlCol="0" anchor="ctr"/>
          <a:lstStyle/>
          <a:p>
            <a:pPr marL="0" indent="0" algn="ctr">
              <a:lnSpc>
                <a:spcPts val="5000"/>
              </a:lnSpc>
              <a:buNone/>
            </a:pPr>
            <a:r>
              <a:rPr lang="en-US" sz="7200" b="1" dirty="0">
                <a:solidFill>
                  <a:srgbClr val="443728"/>
                </a:solidFill>
                <a:latin typeface="Sitka Heading Semibold" pitchFamily="2" charset="0"/>
                <a:ea typeface="Crimson Pro Bold" pitchFamily="34" charset="-122"/>
                <a:cs typeface="Crimson Pro Bold" pitchFamily="34" charset="-120"/>
              </a:rPr>
              <a:t>Thank You!</a:t>
            </a:r>
          </a:p>
        </p:txBody>
      </p:sp>
      <p:sp>
        <p:nvSpPr>
          <p:cNvPr id="5" name="Divider"/>
          <p:cNvSpPr/>
          <p:nvPr/>
        </p:nvSpPr>
        <p:spPr>
          <a:xfrm>
            <a:off x="4200000" y="4600000"/>
            <a:ext cx="5229610" cy="36576"/>
          </a:xfrm>
          <a:prstGeom prst="rect">
            <a:avLst/>
          </a:prstGeom>
          <a:solidFill>
            <a:srgbClr val="D1C8C6"/>
          </a:solidFill>
          <a:ln>
            <a:noFill/>
          </a:ln>
        </p:spPr>
        <p:txBody>
          <a:bodyPr/>
          <a:lstStyle/>
          <a:p>
            <a:endParaRPr/>
          </a:p>
        </p:txBody>
      </p:sp>
      <p:sp>
        <p:nvSpPr>
          <p:cNvPr id="6" name="Presenter"/>
          <p:cNvSpPr/>
          <p:nvPr/>
        </p:nvSpPr>
        <p:spPr>
          <a:xfrm>
            <a:off x="2286000" y="4750000"/>
            <a:ext cx="9057610" cy="900000"/>
          </a:xfrm>
          <a:prstGeom prst="rect">
            <a:avLst/>
          </a:prstGeom>
          <a:noFill/>
          <a:ln/>
        </p:spPr>
        <p:txBody>
          <a:bodyPr wrap="none" lIns="0" tIns="0" rIns="0" bIns="0" rtlCol="0" anchor="t"/>
          <a:lstStyle/>
          <a:p>
            <a:pPr marL="0" indent="0" algn="ctr">
              <a:lnSpc>
                <a:spcPts val="2200"/>
              </a:lnSpc>
              <a:buNone/>
            </a:pPr>
            <a:endParaRPr lang="en-US" sz="1600" b="1" dirty="0">
              <a:solidFill>
                <a:srgbClr val="443728"/>
              </a:solidFill>
              <a:latin typeface="Sitka Heading Semibold" pitchFamily="2" charset="0"/>
              <a:ea typeface="Crimson Pro Bold" pitchFamily="34" charset="-122"/>
              <a:cs typeface="Crimson Pro Bold" pitchFamily="34" charset="-120"/>
            </a:endParaRPr>
          </a:p>
        </p:txBody>
      </p:sp>
      <p:pic>
        <p:nvPicPr>
          <p:cNvPr id="10" name="Picture 9">
            <a:extLst>
              <a:ext uri="{FF2B5EF4-FFF2-40B4-BE49-F238E27FC236}">
                <a16:creationId xmlns:a16="http://schemas.microsoft.com/office/drawing/2014/main" id="{720FF479-CF19-E1A2-A319-A3F90163A9EA}"/>
              </a:ext>
            </a:extLst>
          </p:cNvPr>
          <p:cNvPicPr>
            <a:picLocks noChangeAspect="1"/>
          </p:cNvPicPr>
          <p:nvPr/>
        </p:nvPicPr>
        <p:blipFill>
          <a:blip r:embed="rId2"/>
          <a:stretch>
            <a:fillRect/>
          </a:stretch>
        </p:blipFill>
        <p:spPr>
          <a:xfrm>
            <a:off x="12852293" y="7648494"/>
            <a:ext cx="1778107" cy="5811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336</TotalTime>
  <Words>1064</Words>
  <Application>Microsoft Office PowerPoint</Application>
  <PresentationFormat>Custom</PresentationFormat>
  <Paragraphs>152</Paragraphs>
  <Slides>13</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Sitka Heading Semibold</vt:lpstr>
      <vt:lpstr>Calibri</vt:lpstr>
      <vt:lpstr>Arial</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Rithwika Nagula</cp:lastModifiedBy>
  <cp:revision>12</cp:revision>
  <dcterms:created xsi:type="dcterms:W3CDTF">2026-03-04T06:17:08Z</dcterms:created>
  <dcterms:modified xsi:type="dcterms:W3CDTF">2026-03-09T14:31:09Z</dcterms:modified>
</cp:coreProperties>
</file>